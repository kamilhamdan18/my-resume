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2"/>
    <p:sldId id="258" r:id="rId3"/>
    <p:sldId id="259" r:id="rId4"/>
    <p:sldId id="260" r:id="rId5"/>
    <p:sldId id="261" r:id="rId6"/>
    <p:sldId id="262" r:id="rId7"/>
    <p:sldId id="263" r:id="rId8"/>
    <p:sldId id="264" r:id="rId9"/>
    <p:sldId id="266" r:id="rId10"/>
    <p:sldId id="267" r:id="rId11"/>
    <p:sldId id="265"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630" autoAdjust="0"/>
    <p:restoredTop sz="94660"/>
  </p:normalViewPr>
  <p:slideViewPr>
    <p:cSldViewPr snapToGrid="0" snapToObjects="1">
      <p:cViewPr varScale="1">
        <p:scale>
          <a:sx n="78" d="100"/>
          <a:sy n="78" d="100"/>
        </p:scale>
        <p:origin x="1320"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E2D140-064D-45B5-8194-48025F0C2F39}" type="datetimeFigureOut">
              <a:rPr lang="en-GB" smtClean="0"/>
              <a:t>11/03/2026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B50D6-03E7-4149-8A76-A70C7CA1845F}" type="slidenum">
              <a:rPr lang="en-GB" smtClean="0"/>
              <a:t>‹#›</a:t>
            </a:fld>
            <a:endParaRPr lang="en-GB"/>
          </a:p>
        </p:txBody>
      </p:sp>
    </p:spTree>
    <p:extLst>
      <p:ext uri="{BB962C8B-B14F-4D97-AF65-F5344CB8AC3E}">
        <p14:creationId xmlns:p14="http://schemas.microsoft.com/office/powerpoint/2010/main" val="26610889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A63B50D6-03E7-4149-8A76-A70C7CA1845F}" type="slidenum">
              <a:rPr lang="en-GB" smtClean="0"/>
              <a:t>3</a:t>
            </a:fld>
            <a:endParaRPr lang="en-GB"/>
          </a:p>
        </p:txBody>
      </p:sp>
    </p:spTree>
    <p:extLst>
      <p:ext uri="{BB962C8B-B14F-4D97-AF65-F5344CB8AC3E}">
        <p14:creationId xmlns:p14="http://schemas.microsoft.com/office/powerpoint/2010/main" val="39018164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65314"/>
            <a:ext cx="8229600" cy="569168"/>
          </a:xfrm>
        </p:spPr>
        <p:txBody>
          <a:bodyPr>
            <a:normAutofit fontScale="90000"/>
          </a:bodyPr>
          <a:lstStyle/>
          <a:p>
            <a:r>
              <a:rPr dirty="0"/>
              <a:t>Introduction</a:t>
            </a:r>
          </a:p>
        </p:txBody>
      </p:sp>
      <p:sp>
        <p:nvSpPr>
          <p:cNvPr id="3" name="Content Placeholder 2"/>
          <p:cNvSpPr>
            <a:spLocks noGrp="1"/>
          </p:cNvSpPr>
          <p:nvPr>
            <p:ph idx="1"/>
          </p:nvPr>
        </p:nvSpPr>
        <p:spPr>
          <a:xfrm>
            <a:off x="457200" y="634482"/>
            <a:ext cx="8229600" cy="5859624"/>
          </a:xfrm>
        </p:spPr>
        <p:txBody>
          <a:bodyPr>
            <a:normAutofit/>
          </a:bodyPr>
          <a:lstStyle/>
          <a:p>
            <a:pPr marL="0" indent="0">
              <a:lnSpc>
                <a:spcPct val="150000"/>
              </a:lnSpc>
              <a:buNone/>
            </a:pPr>
            <a:r>
              <a:rPr lang="en-GB" sz="2000" dirty="0">
                <a:solidFill>
                  <a:schemeClr val="bg1"/>
                </a:solidFill>
              </a:rPr>
              <a:t>This project “</a:t>
            </a:r>
            <a:r>
              <a:rPr lang="en-GB" sz="2000" b="1" i="1" dirty="0"/>
              <a:t>Bank Analytics</a:t>
            </a:r>
            <a:r>
              <a:rPr lang="en-GB" sz="2000" dirty="0">
                <a:solidFill>
                  <a:schemeClr val="bg1"/>
                </a:solidFill>
              </a:rPr>
              <a:t>” focuses on analysing customer banking activities using two primary datasets .</a:t>
            </a:r>
          </a:p>
          <a:p>
            <a:pPr marL="0" indent="0">
              <a:lnSpc>
                <a:spcPct val="150000"/>
              </a:lnSpc>
              <a:buNone/>
            </a:pPr>
            <a:r>
              <a:rPr lang="en-GB" sz="2000" dirty="0">
                <a:solidFill>
                  <a:schemeClr val="bg1"/>
                </a:solidFill>
              </a:rPr>
              <a:t>one containing customer </a:t>
            </a:r>
            <a:r>
              <a:rPr lang="en-GB" sz="2000" dirty="0"/>
              <a:t>debit and credit transaction details</a:t>
            </a:r>
            <a:r>
              <a:rPr lang="en-GB" sz="2000" dirty="0">
                <a:solidFill>
                  <a:schemeClr val="bg1"/>
                </a:solidFill>
              </a:rPr>
              <a:t>, and another </a:t>
            </a:r>
            <a:r>
              <a:rPr lang="en-GB" sz="2000" dirty="0"/>
              <a:t>containing bank loan records.</a:t>
            </a:r>
          </a:p>
          <a:p>
            <a:pPr marL="0" indent="0">
              <a:lnSpc>
                <a:spcPct val="150000"/>
              </a:lnSpc>
              <a:buNone/>
            </a:pPr>
            <a:r>
              <a:rPr lang="en-GB" sz="2000" dirty="0">
                <a:solidFill>
                  <a:schemeClr val="bg1"/>
                </a:solidFill>
              </a:rPr>
              <a:t>The main objective of the project is to gain insights into customer financial behaviour, loan distribution, and overall banking performance. To achieve this, multiple data analytics and visualization tools were used:</a:t>
            </a:r>
          </a:p>
          <a:p>
            <a:pPr>
              <a:lnSpc>
                <a:spcPct val="150000"/>
              </a:lnSpc>
            </a:pPr>
            <a:r>
              <a:rPr lang="en-GB" sz="2000" b="1" dirty="0"/>
              <a:t>Excel Dashboard </a:t>
            </a:r>
            <a:r>
              <a:rPr lang="en-GB" sz="2000" dirty="0">
                <a:solidFill>
                  <a:schemeClr val="bg1"/>
                </a:solidFill>
              </a:rPr>
              <a:t>for the initial representation of actual data.</a:t>
            </a:r>
          </a:p>
          <a:p>
            <a:pPr>
              <a:lnSpc>
                <a:spcPct val="150000"/>
              </a:lnSpc>
            </a:pPr>
            <a:r>
              <a:rPr lang="en-GB" sz="2000" b="1" dirty="0"/>
              <a:t>SQL combined with Power BI </a:t>
            </a:r>
            <a:r>
              <a:rPr lang="en-GB" sz="2000" dirty="0">
                <a:solidFill>
                  <a:schemeClr val="bg1"/>
                </a:solidFill>
              </a:rPr>
              <a:t>for structured query outputs and interactive dashboards.</a:t>
            </a:r>
          </a:p>
          <a:p>
            <a:pPr>
              <a:lnSpc>
                <a:spcPct val="150000"/>
              </a:lnSpc>
            </a:pPr>
            <a:r>
              <a:rPr lang="en-GB" sz="2000" b="1" dirty="0"/>
              <a:t>Tableau Dashboard </a:t>
            </a:r>
            <a:r>
              <a:rPr lang="en-GB" sz="2000" dirty="0">
                <a:solidFill>
                  <a:schemeClr val="bg1"/>
                </a:solidFill>
              </a:rPr>
              <a:t>for advanced visualization and deeper insights.</a:t>
            </a:r>
          </a:p>
          <a:p>
            <a:pPr marL="0" indent="0">
              <a:lnSpc>
                <a:spcPct val="150000"/>
              </a:lnSpc>
              <a:buNone/>
            </a:pPr>
            <a:endParaRPr sz="20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71804"/>
          </a:xfrm>
        </p:spPr>
        <p:txBody>
          <a:bodyPr>
            <a:normAutofit fontScale="90000"/>
          </a:bodyPr>
          <a:lstStyle/>
          <a:p>
            <a:r>
              <a:rPr dirty="0"/>
              <a:t>Problem Statement</a:t>
            </a:r>
          </a:p>
        </p:txBody>
      </p:sp>
      <p:sp>
        <p:nvSpPr>
          <p:cNvPr id="3" name="Content Placeholder 2"/>
          <p:cNvSpPr>
            <a:spLocks noGrp="1"/>
          </p:cNvSpPr>
          <p:nvPr>
            <p:ph idx="1"/>
          </p:nvPr>
        </p:nvSpPr>
        <p:spPr>
          <a:xfrm>
            <a:off x="167951" y="597160"/>
            <a:ext cx="8798767" cy="6186196"/>
          </a:xfrm>
        </p:spPr>
        <p:txBody>
          <a:bodyPr>
            <a:normAutofit fontScale="92500"/>
          </a:bodyPr>
          <a:lstStyle/>
          <a:p>
            <a:pPr marL="0" indent="0">
              <a:lnSpc>
                <a:spcPct val="120000"/>
              </a:lnSpc>
              <a:buNone/>
            </a:pPr>
            <a:r>
              <a:rPr lang="en-GB" sz="2400" dirty="0">
                <a:solidFill>
                  <a:schemeClr val="bg1"/>
                </a:solidFill>
              </a:rPr>
              <a:t>Banks generate huge volumes of transactional and loan data every day. However, this data often remains underutilized due to lack of proper analysis and visualization. The key challenges are:</a:t>
            </a:r>
          </a:p>
          <a:p>
            <a:pPr>
              <a:lnSpc>
                <a:spcPct val="120000"/>
              </a:lnSpc>
            </a:pPr>
            <a:r>
              <a:rPr lang="en-GB" sz="2400" dirty="0">
                <a:solidFill>
                  <a:schemeClr val="bg1"/>
                </a:solidFill>
              </a:rPr>
              <a:t>Difficulty in </a:t>
            </a:r>
            <a:r>
              <a:rPr lang="en-GB" sz="2400" b="1" dirty="0"/>
              <a:t>tracking customer debit and credit patterns</a:t>
            </a:r>
            <a:r>
              <a:rPr lang="en-GB" sz="2400" dirty="0"/>
              <a:t> </a:t>
            </a:r>
            <a:r>
              <a:rPr lang="en-GB" sz="2400" dirty="0">
                <a:solidFill>
                  <a:schemeClr val="bg1"/>
                </a:solidFill>
              </a:rPr>
              <a:t>effectively.</a:t>
            </a:r>
          </a:p>
          <a:p>
            <a:pPr>
              <a:lnSpc>
                <a:spcPct val="120000"/>
              </a:lnSpc>
            </a:pPr>
            <a:r>
              <a:rPr lang="en-GB" sz="2400" dirty="0">
                <a:solidFill>
                  <a:schemeClr val="bg1"/>
                </a:solidFill>
              </a:rPr>
              <a:t>Lack of a unified system to </a:t>
            </a:r>
            <a:r>
              <a:rPr lang="en-GB" sz="2400" b="1" dirty="0"/>
              <a:t>analyse loan data alongside transaction data</a:t>
            </a:r>
            <a:r>
              <a:rPr lang="en-GB" sz="2400" dirty="0"/>
              <a:t>.</a:t>
            </a:r>
          </a:p>
          <a:p>
            <a:pPr>
              <a:lnSpc>
                <a:spcPct val="120000"/>
              </a:lnSpc>
            </a:pPr>
            <a:r>
              <a:rPr lang="en-GB" sz="2400" dirty="0">
                <a:solidFill>
                  <a:schemeClr val="bg1"/>
                </a:solidFill>
              </a:rPr>
              <a:t>Limited ability to </a:t>
            </a:r>
            <a:r>
              <a:rPr lang="en-GB" sz="2400" b="1" dirty="0"/>
              <a:t>derive real-time insights</a:t>
            </a:r>
            <a:r>
              <a:rPr lang="en-GB" sz="2400" dirty="0"/>
              <a:t> </a:t>
            </a:r>
            <a:r>
              <a:rPr lang="en-GB" sz="2400" dirty="0">
                <a:solidFill>
                  <a:schemeClr val="bg1"/>
                </a:solidFill>
              </a:rPr>
              <a:t>from raw SQL query outputs.</a:t>
            </a:r>
          </a:p>
          <a:p>
            <a:pPr>
              <a:lnSpc>
                <a:spcPct val="120000"/>
              </a:lnSpc>
            </a:pPr>
            <a:r>
              <a:rPr lang="en-GB" sz="2400" dirty="0">
                <a:solidFill>
                  <a:schemeClr val="bg1"/>
                </a:solidFill>
              </a:rPr>
              <a:t>Absence of </a:t>
            </a:r>
            <a:r>
              <a:rPr lang="en-GB" sz="2400" b="1" dirty="0"/>
              <a:t>interactive dashboards</a:t>
            </a:r>
            <a:r>
              <a:rPr lang="en-GB" sz="2400" dirty="0"/>
              <a:t> </a:t>
            </a:r>
            <a:r>
              <a:rPr lang="en-GB" sz="2400" dirty="0">
                <a:solidFill>
                  <a:schemeClr val="bg1"/>
                </a:solidFill>
              </a:rPr>
              <a:t>for decision-making</a:t>
            </a:r>
            <a:r>
              <a:rPr lang="en-GB" sz="2400" dirty="0"/>
              <a:t>.</a:t>
            </a:r>
          </a:p>
          <a:p>
            <a:pPr>
              <a:lnSpc>
                <a:spcPct val="120000"/>
              </a:lnSpc>
            </a:pPr>
            <a:r>
              <a:rPr lang="en-GB" sz="2400" dirty="0">
                <a:solidFill>
                  <a:schemeClr val="bg1"/>
                </a:solidFill>
              </a:rPr>
              <a:t>Challenge in </a:t>
            </a:r>
            <a:r>
              <a:rPr lang="en-GB" sz="2400" b="1" dirty="0"/>
              <a:t>identifying key performance indicators (KPIs)</a:t>
            </a:r>
            <a:r>
              <a:rPr lang="en-GB" sz="2400" dirty="0"/>
              <a:t> </a:t>
            </a:r>
            <a:r>
              <a:rPr lang="en-GB" sz="2400" dirty="0">
                <a:solidFill>
                  <a:schemeClr val="bg1"/>
                </a:solidFill>
              </a:rPr>
              <a:t>that drive banking growth and risk assessment.</a:t>
            </a:r>
          </a:p>
          <a:p>
            <a:pPr marL="0" indent="0">
              <a:lnSpc>
                <a:spcPct val="120000"/>
              </a:lnSpc>
              <a:buNone/>
            </a:pPr>
            <a:r>
              <a:rPr lang="en-GB" sz="2400" dirty="0">
                <a:solidFill>
                  <a:schemeClr val="bg1"/>
                </a:solidFill>
              </a:rPr>
              <a:t>This project addresses these challenges by integrating data analytics and visualization tools to transform raw banking data into actionable insights.</a:t>
            </a:r>
          </a:p>
          <a:p>
            <a:pPr marL="0" indent="0">
              <a:lnSpc>
                <a:spcPct val="300000"/>
              </a:lnSpc>
              <a:buNone/>
            </a:pPr>
            <a:endParaRP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102054"/>
            <a:ext cx="8229600" cy="713683"/>
          </a:xfrm>
        </p:spPr>
        <p:txBody>
          <a:bodyPr>
            <a:normAutofit fontScale="90000"/>
          </a:bodyPr>
          <a:lstStyle/>
          <a:p>
            <a:r>
              <a:rPr dirty="0"/>
              <a:t>KPIs &amp; Insights</a:t>
            </a:r>
          </a:p>
        </p:txBody>
      </p:sp>
      <p:sp>
        <p:nvSpPr>
          <p:cNvPr id="3" name="Content Placeholder 2"/>
          <p:cNvSpPr>
            <a:spLocks noGrp="1"/>
          </p:cNvSpPr>
          <p:nvPr>
            <p:ph idx="1"/>
          </p:nvPr>
        </p:nvSpPr>
        <p:spPr>
          <a:xfrm>
            <a:off x="177281" y="746643"/>
            <a:ext cx="8789437" cy="6025632"/>
          </a:xfrm>
        </p:spPr>
        <p:txBody>
          <a:bodyPr/>
          <a:lstStyle/>
          <a:p>
            <a:pPr marL="0" indent="0" algn="ctr">
              <a:buNone/>
            </a:pPr>
            <a:r>
              <a:rPr dirty="0"/>
              <a:t>Key Performance Indicators and insights </a:t>
            </a:r>
            <a:endParaRPr lang="en-GB" dirty="0"/>
          </a:p>
          <a:p>
            <a:pPr marL="0" indent="0" algn="ctr">
              <a:buNone/>
            </a:pPr>
            <a:endParaRPr lang="en-GB" dirty="0"/>
          </a:p>
        </p:txBody>
      </p:sp>
      <p:sp>
        <p:nvSpPr>
          <p:cNvPr id="6" name="Rectangle 3"/>
          <p:cNvSpPr>
            <a:spLocks noChangeArrowheads="1"/>
          </p:cNvSpPr>
          <p:nvPr/>
        </p:nvSpPr>
        <p:spPr bwMode="auto">
          <a:xfrm>
            <a:off x="457200" y="1724739"/>
            <a:ext cx="8324850"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Total Loan Applications</a:t>
            </a:r>
            <a:r>
              <a:rPr kumimoji="0" lang="en-US" altLang="en-US" sz="1400" b="0" i="0" u="none" strike="noStrike" cap="none" normalizeH="0" baseline="0" dirty="0">
                <a:ln>
                  <a:noFill/>
                </a:ln>
                <a:solidFill>
                  <a:schemeClr val="tx1"/>
                </a:solidFill>
                <a:effectLst/>
                <a:latin typeface="Arial" panose="020B0604020202020204" pitchFamily="34" charset="0"/>
              </a:rPr>
              <a:t> – </a:t>
            </a:r>
            <a:r>
              <a:rPr kumimoji="0" lang="en-US" altLang="en-US" sz="1400" b="0" i="0" u="none" strike="noStrike" cap="none" normalizeH="0" baseline="0" dirty="0">
                <a:ln>
                  <a:noFill/>
                </a:ln>
                <a:solidFill>
                  <a:schemeClr val="bg1"/>
                </a:solidFill>
                <a:effectLst/>
                <a:latin typeface="Arial" panose="020B0604020202020204" pitchFamily="34" charset="0"/>
              </a:rPr>
              <a:t>Measures the number of loan requests received (</a:t>
            </a:r>
            <a:r>
              <a:rPr kumimoji="0" lang="en-US" altLang="en-US" sz="1400" b="0" i="1" u="none" strike="noStrike" cap="none" normalizeH="0" baseline="0" dirty="0">
                <a:ln>
                  <a:noFill/>
                </a:ln>
                <a:solidFill>
                  <a:schemeClr val="bg1"/>
                </a:solidFill>
                <a:effectLst/>
                <a:latin typeface="Arial" panose="020B0604020202020204" pitchFamily="34" charset="0"/>
              </a:rPr>
              <a:t>65.5K</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Total Amount Collected</a:t>
            </a:r>
            <a:r>
              <a:rPr kumimoji="0" lang="en-US" altLang="en-US" sz="1400" b="0" i="0" u="none" strike="noStrike" cap="none" normalizeH="0" baseline="0" dirty="0">
                <a:ln>
                  <a:noFill/>
                </a:ln>
                <a:solidFill>
                  <a:schemeClr val="tx1"/>
                </a:solidFill>
                <a:effectLst/>
                <a:latin typeface="Arial" panose="020B0604020202020204" pitchFamily="34" charset="0"/>
              </a:rPr>
              <a:t> – </a:t>
            </a:r>
            <a:r>
              <a:rPr kumimoji="0" lang="en-US" altLang="en-US" sz="1400" b="0" i="0" u="none" strike="noStrike" cap="none" normalizeH="0" baseline="0" dirty="0">
                <a:ln>
                  <a:noFill/>
                </a:ln>
                <a:solidFill>
                  <a:schemeClr val="bg1"/>
                </a:solidFill>
                <a:effectLst/>
                <a:latin typeface="Arial" panose="020B0604020202020204" pitchFamily="34" charset="0"/>
              </a:rPr>
              <a:t>Amount repaid by customers (</a:t>
            </a:r>
            <a:r>
              <a:rPr kumimoji="0" lang="en-US" altLang="en-US" sz="1400" b="0" i="1" u="none" strike="noStrike" cap="none" normalizeH="0" baseline="0" dirty="0">
                <a:ln>
                  <a:noFill/>
                </a:ln>
                <a:solidFill>
                  <a:schemeClr val="bg1"/>
                </a:solidFill>
                <a:effectLst/>
                <a:latin typeface="Arial" panose="020B0604020202020204" pitchFamily="34" charset="0"/>
              </a:rPr>
              <a:t>$814.9M</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Total Interest Collected</a:t>
            </a:r>
            <a:r>
              <a:rPr kumimoji="0" lang="en-US" altLang="en-US" sz="1400" b="0" i="0" u="none" strike="noStrike" cap="none" normalizeH="0" baseline="0" dirty="0">
                <a:ln>
                  <a:noFill/>
                </a:ln>
                <a:solidFill>
                  <a:schemeClr val="tx1"/>
                </a:solidFill>
                <a:effectLst/>
                <a:latin typeface="Arial" panose="020B0604020202020204" pitchFamily="34" charset="0"/>
              </a:rPr>
              <a:t> – </a:t>
            </a:r>
            <a:r>
              <a:rPr kumimoji="0" lang="en-US" altLang="en-US" sz="1400" b="0" i="0" u="none" strike="noStrike" cap="none" normalizeH="0" baseline="0" dirty="0">
                <a:ln>
                  <a:noFill/>
                </a:ln>
                <a:solidFill>
                  <a:schemeClr val="bg1"/>
                </a:solidFill>
                <a:effectLst/>
                <a:latin typeface="Arial" panose="020B0604020202020204" pitchFamily="34" charset="0"/>
              </a:rPr>
              <a:t>Interest earned from loans (</a:t>
            </a:r>
            <a:r>
              <a:rPr kumimoji="0" lang="en-US" altLang="en-US" sz="1400" b="0" i="1" u="none" strike="noStrike" cap="none" normalizeH="0" baseline="0" dirty="0">
                <a:ln>
                  <a:noFill/>
                </a:ln>
                <a:solidFill>
                  <a:schemeClr val="bg1"/>
                </a:solidFill>
                <a:effectLst/>
                <a:latin typeface="Arial" panose="020B0604020202020204" pitchFamily="34" charset="0"/>
              </a:rPr>
              <a:t>$155M+</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Average Interest Rate</a:t>
            </a:r>
            <a:r>
              <a:rPr kumimoji="0" lang="en-US" altLang="en-US" sz="1400" b="0" i="0" u="none" strike="noStrike" cap="none" normalizeH="0" baseline="0" dirty="0">
                <a:ln>
                  <a:noFill/>
                </a:ln>
                <a:solidFill>
                  <a:schemeClr val="tx1"/>
                </a:solidFill>
                <a:effectLst/>
                <a:latin typeface="Arial" panose="020B0604020202020204" pitchFamily="34" charset="0"/>
              </a:rPr>
              <a:t> – </a:t>
            </a:r>
            <a:r>
              <a:rPr kumimoji="0" lang="en-US" altLang="en-US" sz="1400" b="0" i="0" u="none" strike="noStrike" cap="none" normalizeH="0" baseline="0" dirty="0">
                <a:ln>
                  <a:noFill/>
                </a:ln>
                <a:solidFill>
                  <a:schemeClr val="bg1"/>
                </a:solidFill>
                <a:effectLst/>
                <a:latin typeface="Arial" panose="020B0604020202020204" pitchFamily="34" charset="0"/>
              </a:rPr>
              <a:t>Average percentage of interest across loans (</a:t>
            </a:r>
            <a:r>
              <a:rPr kumimoji="0" lang="en-US" altLang="en-US" sz="1400" b="0" i="1" u="none" strike="noStrike" cap="none" normalizeH="0" baseline="0" dirty="0">
                <a:ln>
                  <a:noFill/>
                </a:ln>
                <a:solidFill>
                  <a:schemeClr val="bg1"/>
                </a:solidFill>
                <a:effectLst/>
                <a:latin typeface="Arial" panose="020B0604020202020204" pitchFamily="34" charset="0"/>
              </a:rPr>
              <a:t>12%</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Active Loans</a:t>
            </a:r>
            <a:r>
              <a:rPr kumimoji="0" lang="en-US" altLang="en-US" sz="1400" b="0" i="0" u="none" strike="noStrike" cap="none" normalizeH="0" baseline="0" dirty="0">
                <a:ln>
                  <a:noFill/>
                </a:ln>
                <a:solidFill>
                  <a:schemeClr val="tx1"/>
                </a:solidFill>
                <a:effectLst/>
                <a:latin typeface="Arial" panose="020B0604020202020204" pitchFamily="34" charset="0"/>
              </a:rPr>
              <a:t> – </a:t>
            </a:r>
            <a:r>
              <a:rPr kumimoji="0" lang="en-US" altLang="en-US" sz="1400" b="0" i="0" u="none" strike="noStrike" cap="none" normalizeH="0" baseline="0" dirty="0">
                <a:ln>
                  <a:noFill/>
                </a:ln>
                <a:solidFill>
                  <a:schemeClr val="bg1"/>
                </a:solidFill>
                <a:effectLst/>
                <a:latin typeface="Arial" panose="020B0604020202020204" pitchFamily="34" charset="0"/>
              </a:rPr>
              <a:t>Number of currently running loans (</a:t>
            </a:r>
            <a:r>
              <a:rPr kumimoji="0" lang="en-US" altLang="en-US" sz="1400" b="0" i="1" u="none" strike="noStrike" cap="none" normalizeH="0" baseline="0" dirty="0">
                <a:ln>
                  <a:noFill/>
                </a:ln>
                <a:solidFill>
                  <a:schemeClr val="bg1"/>
                </a:solidFill>
                <a:effectLst/>
                <a:latin typeface="Arial" panose="020B0604020202020204" pitchFamily="34" charset="0"/>
              </a:rPr>
              <a:t>28,654</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indent="-285750" defTabSz="914400" eaLnBrk="0" fontAlgn="base" hangingPunct="0">
              <a:lnSpc>
                <a:spcPct val="200000"/>
              </a:lnSpc>
              <a:spcBef>
                <a:spcPct val="0"/>
              </a:spcBef>
              <a:spcAft>
                <a:spcPct val="0"/>
              </a:spcAft>
              <a:buFont typeface="Arial" panose="020B0604020202020204" pitchFamily="34" charset="0"/>
              <a:buChar char="•"/>
            </a:pPr>
            <a:r>
              <a:rPr kumimoji="0" lang="en-US" altLang="en-US" sz="1400" b="1" i="0" u="none" strike="noStrike" cap="none" normalizeH="0" baseline="0" dirty="0">
                <a:ln>
                  <a:noFill/>
                </a:ln>
                <a:effectLst/>
                <a:latin typeface="Arial" panose="020B0604020202020204" pitchFamily="34" charset="0"/>
              </a:rPr>
              <a:t>Disbursement Trend</a:t>
            </a:r>
            <a:r>
              <a:rPr kumimoji="0" lang="en-US" altLang="en-US" sz="1400" b="0" i="0" u="none" strike="noStrike" cap="none" normalizeH="0" baseline="0" dirty="0">
                <a:ln>
                  <a:noFill/>
                </a:ln>
                <a:effectLst/>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 Loan distribution trend across financial years</a:t>
            </a:r>
            <a:endParaRPr lang="en-GB" sz="1400" b="1" dirty="0">
              <a:latin typeface="Arial" panose="020B0604020202020204" pitchFamily="34" charset="0"/>
              <a:cs typeface="Arial" panose="020B0604020202020204" pitchFamily="34" charset="0"/>
            </a:endParaRPr>
          </a:p>
          <a:p>
            <a:pPr marL="285750" indent="-285750">
              <a:lnSpc>
                <a:spcPct val="200000"/>
              </a:lnSpc>
              <a:buFont typeface="Arial" panose="020B0604020202020204" pitchFamily="34" charset="0"/>
              <a:buChar char="•"/>
            </a:pPr>
            <a:r>
              <a:rPr lang="en-GB" sz="1400" b="1" dirty="0">
                <a:latin typeface="Arial" panose="020B0604020202020204" pitchFamily="34" charset="0"/>
                <a:cs typeface="Arial" panose="020B0604020202020204" pitchFamily="34" charset="0"/>
              </a:rPr>
              <a:t>Total Credit Amount</a:t>
            </a:r>
            <a:r>
              <a:rPr lang="en-GB" sz="1400" dirty="0">
                <a:latin typeface="Arial" panose="020B0604020202020204" pitchFamily="34" charset="0"/>
                <a:cs typeface="Arial" panose="020B0604020202020204" pitchFamily="34" charset="0"/>
              </a:rPr>
              <a:t> – </a:t>
            </a:r>
            <a:r>
              <a:rPr lang="en-GB" sz="1400" dirty="0">
                <a:solidFill>
                  <a:schemeClr val="bg1"/>
                </a:solidFill>
                <a:latin typeface="Arial" panose="020B0604020202020204" pitchFamily="34" charset="0"/>
                <a:cs typeface="Arial" panose="020B0604020202020204" pitchFamily="34" charset="0"/>
              </a:rPr>
              <a:t>$127.6 Million</a:t>
            </a:r>
          </a:p>
          <a:p>
            <a:pPr marL="285750" indent="-285750">
              <a:lnSpc>
                <a:spcPct val="200000"/>
              </a:lnSpc>
              <a:buFont typeface="Arial" panose="020B0604020202020204" pitchFamily="34" charset="0"/>
              <a:buChar char="•"/>
            </a:pPr>
            <a:r>
              <a:rPr lang="en-GB" sz="1400" b="1" dirty="0">
                <a:latin typeface="Arial" panose="020B0604020202020204" pitchFamily="34" charset="0"/>
                <a:cs typeface="Arial" panose="020B0604020202020204" pitchFamily="34" charset="0"/>
              </a:rPr>
              <a:t>Total Debit Amount</a:t>
            </a:r>
            <a:r>
              <a:rPr lang="en-GB" sz="1400" dirty="0">
                <a:latin typeface="Arial" panose="020B0604020202020204" pitchFamily="34" charset="0"/>
                <a:cs typeface="Arial" panose="020B0604020202020204" pitchFamily="34" charset="0"/>
              </a:rPr>
              <a:t> – </a:t>
            </a:r>
            <a:r>
              <a:rPr lang="en-GB" sz="1400" dirty="0">
                <a:solidFill>
                  <a:schemeClr val="bg1"/>
                </a:solidFill>
                <a:latin typeface="Arial" panose="020B0604020202020204" pitchFamily="34" charset="0"/>
                <a:cs typeface="Arial" panose="020B0604020202020204" pitchFamily="34" charset="0"/>
              </a:rPr>
              <a:t>$127.3 Million</a:t>
            </a:r>
          </a:p>
          <a:p>
            <a:pPr marL="285750" indent="-285750">
              <a:lnSpc>
                <a:spcPct val="200000"/>
              </a:lnSpc>
              <a:buFont typeface="Arial" panose="020B0604020202020204" pitchFamily="34" charset="0"/>
              <a:buChar char="•"/>
            </a:pPr>
            <a:r>
              <a:rPr lang="en-GB" sz="1400" b="1" dirty="0">
                <a:latin typeface="Arial" panose="020B0604020202020204" pitchFamily="34" charset="0"/>
                <a:cs typeface="Arial" panose="020B0604020202020204" pitchFamily="34" charset="0"/>
              </a:rPr>
              <a:t>Credit to Debit Ratio</a:t>
            </a:r>
            <a:r>
              <a:rPr lang="en-GB" sz="1400" dirty="0">
                <a:latin typeface="Arial" panose="020B0604020202020204" pitchFamily="34" charset="0"/>
                <a:cs typeface="Arial" panose="020B0604020202020204" pitchFamily="34" charset="0"/>
              </a:rPr>
              <a:t> – </a:t>
            </a:r>
            <a:r>
              <a:rPr lang="en-GB" sz="1400" dirty="0">
                <a:solidFill>
                  <a:schemeClr val="bg1"/>
                </a:solidFill>
                <a:latin typeface="Arial" panose="020B0604020202020204" pitchFamily="34" charset="0"/>
                <a:cs typeface="Arial" panose="020B0604020202020204" pitchFamily="34" charset="0"/>
              </a:rPr>
              <a:t>1.0025</a:t>
            </a:r>
          </a:p>
          <a:p>
            <a:pPr marL="285750" indent="-285750">
              <a:lnSpc>
                <a:spcPct val="200000"/>
              </a:lnSpc>
              <a:buFont typeface="Arial" panose="020B0604020202020204" pitchFamily="34" charset="0"/>
              <a:buChar char="•"/>
            </a:pPr>
            <a:r>
              <a:rPr lang="en-GB" sz="1400" b="1" dirty="0">
                <a:latin typeface="Arial" panose="020B0604020202020204" pitchFamily="34" charset="0"/>
                <a:cs typeface="Arial" panose="020B0604020202020204" pitchFamily="34" charset="0"/>
              </a:rPr>
              <a:t>Net Transaction Amount</a:t>
            </a:r>
            <a:r>
              <a:rPr lang="en-GB" sz="1400" dirty="0">
                <a:latin typeface="Arial" panose="020B0604020202020204" pitchFamily="34" charset="0"/>
                <a:cs typeface="Arial" panose="020B0604020202020204" pitchFamily="34" charset="0"/>
              </a:rPr>
              <a:t> – </a:t>
            </a:r>
            <a:r>
              <a:rPr lang="en-GB" sz="1400" dirty="0">
                <a:solidFill>
                  <a:schemeClr val="bg1"/>
                </a:solidFill>
                <a:latin typeface="Arial" panose="020B0604020202020204" pitchFamily="34" charset="0"/>
                <a:cs typeface="Arial" panose="020B0604020202020204" pitchFamily="34" charset="0"/>
              </a:rPr>
              <a:t>$318.1K</a:t>
            </a:r>
          </a:p>
          <a:p>
            <a:pPr marL="0" marR="0" lvl="0" indent="0" algn="l" defTabSz="914400" rtl="0" eaLnBrk="0" fontAlgn="base" latinLnBrk="0" hangingPunct="0">
              <a:lnSpc>
                <a:spcPct val="200000"/>
              </a:lnSpc>
              <a:spcBef>
                <a:spcPct val="0"/>
              </a:spcBef>
              <a:spcAft>
                <a:spcPct val="0"/>
              </a:spcAft>
              <a:buClrTx/>
              <a:buSzTx/>
              <a:buFontTx/>
              <a:buChar char="•"/>
              <a:tabLst/>
            </a:pPr>
            <a:endParaRPr kumimoji="0" lang="en-US" altLang="en-US" sz="1400" b="0" i="0" u="none" strike="noStrike" cap="none" normalizeH="0" baseline="0" dirty="0">
              <a:ln>
                <a:noFill/>
              </a:ln>
              <a:solidFill>
                <a:schemeClr val="bg1"/>
              </a:solidFill>
              <a:effectLst/>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102637"/>
            <a:ext cx="8229600" cy="513183"/>
          </a:xfrm>
        </p:spPr>
        <p:txBody>
          <a:bodyPr>
            <a:normAutofit fontScale="90000"/>
          </a:bodyPr>
          <a:lstStyle/>
          <a:p>
            <a:r>
              <a:rPr lang="en-GB" dirty="0"/>
              <a:t>Excel</a:t>
            </a:r>
            <a:r>
              <a:rPr dirty="0"/>
              <a:t> Dashboard</a:t>
            </a:r>
          </a:p>
        </p:txBody>
      </p:sp>
      <p:sp>
        <p:nvSpPr>
          <p:cNvPr id="3" name="Content Placeholder 2"/>
          <p:cNvSpPr>
            <a:spLocks noGrp="1"/>
          </p:cNvSpPr>
          <p:nvPr>
            <p:ph idx="1"/>
          </p:nvPr>
        </p:nvSpPr>
        <p:spPr>
          <a:xfrm>
            <a:off x="130629" y="615820"/>
            <a:ext cx="8556171" cy="6111551"/>
          </a:xfrm>
        </p:spPr>
        <p:txBody>
          <a:bodyPr/>
          <a:lstStyle/>
          <a:p>
            <a:pPr marL="0" indent="0" algn="ctr">
              <a:buNone/>
            </a:pPr>
            <a:r>
              <a:rPr dirty="0"/>
              <a:t>Showcase of final dashboard developed in </a:t>
            </a:r>
            <a:r>
              <a:rPr lang="en-GB" dirty="0"/>
              <a:t>excel</a:t>
            </a:r>
            <a:endParaRPr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3266" y="1129003"/>
            <a:ext cx="8453534" cy="2556589"/>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266" y="3834882"/>
            <a:ext cx="8453534" cy="276226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71804"/>
          </a:xfrm>
        </p:spPr>
        <p:txBody>
          <a:bodyPr>
            <a:normAutofit fontScale="90000"/>
          </a:bodyPr>
          <a:lstStyle/>
          <a:p>
            <a:r>
              <a:rPr lang="en-GB" dirty="0"/>
              <a:t>Power BI Dashboard</a:t>
            </a:r>
            <a:endParaRPr dirty="0"/>
          </a:p>
        </p:txBody>
      </p:sp>
      <p:sp>
        <p:nvSpPr>
          <p:cNvPr id="3" name="Content Placeholder 2"/>
          <p:cNvSpPr>
            <a:spLocks noGrp="1"/>
          </p:cNvSpPr>
          <p:nvPr>
            <p:ph idx="1"/>
          </p:nvPr>
        </p:nvSpPr>
        <p:spPr>
          <a:xfrm>
            <a:off x="531845" y="720174"/>
            <a:ext cx="8229600" cy="4525963"/>
          </a:xfrm>
        </p:spPr>
        <p:txBody>
          <a:bodyPr/>
          <a:lstStyle/>
          <a:p>
            <a:pPr marL="0" indent="0" algn="ctr">
              <a:buNone/>
            </a:pPr>
            <a:r>
              <a:rPr lang="en-GB" dirty="0"/>
              <a:t>Screenshot of Power BI dashboard</a:t>
            </a:r>
            <a:endParaRPr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 y="1324948"/>
            <a:ext cx="4124131" cy="283775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21290" y="1324948"/>
            <a:ext cx="3965510" cy="2837752"/>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1" y="4245430"/>
            <a:ext cx="8229600" cy="2509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050"/>
            <a:ext cx="8229600" cy="1143000"/>
          </a:xfrm>
        </p:spPr>
        <p:txBody>
          <a:bodyPr/>
          <a:lstStyle/>
          <a:p>
            <a:r>
              <a:rPr lang="en-GB" dirty="0"/>
              <a:t>Tableau</a:t>
            </a:r>
            <a:r>
              <a:rPr dirty="0"/>
              <a:t> Dashboard</a:t>
            </a:r>
          </a:p>
        </p:txBody>
      </p:sp>
      <p:sp>
        <p:nvSpPr>
          <p:cNvPr id="3" name="Content Placeholder 2"/>
          <p:cNvSpPr>
            <a:spLocks noGrp="1"/>
          </p:cNvSpPr>
          <p:nvPr>
            <p:ph idx="1"/>
          </p:nvPr>
        </p:nvSpPr>
        <p:spPr>
          <a:xfrm>
            <a:off x="251927" y="919065"/>
            <a:ext cx="8640147" cy="5761653"/>
          </a:xfrm>
        </p:spPr>
        <p:txBody>
          <a:bodyPr/>
          <a:lstStyle/>
          <a:p>
            <a:pPr marL="0" indent="0" algn="ctr">
              <a:buNone/>
            </a:pPr>
            <a:r>
              <a:rPr lang="en-GB" dirty="0"/>
              <a:t>Screenshot of Tableau dashboard</a:t>
            </a:r>
          </a:p>
          <a:p>
            <a:pPr marL="0" indent="0" algn="ctr">
              <a:buNone/>
            </a:pPr>
            <a:endParaRPr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870" y="1686653"/>
            <a:ext cx="8444204" cy="477625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484576"/>
          </a:xfrm>
        </p:spPr>
        <p:txBody>
          <a:bodyPr>
            <a:normAutofit fontScale="90000"/>
          </a:bodyPr>
          <a:lstStyle/>
          <a:p>
            <a:r>
              <a:rPr dirty="0"/>
              <a:t>SQL Queries Output</a:t>
            </a:r>
          </a:p>
        </p:txBody>
      </p:sp>
      <p:sp>
        <p:nvSpPr>
          <p:cNvPr id="3" name="Content Placeholder 2"/>
          <p:cNvSpPr>
            <a:spLocks noGrp="1"/>
          </p:cNvSpPr>
          <p:nvPr>
            <p:ph idx="1"/>
          </p:nvPr>
        </p:nvSpPr>
        <p:spPr>
          <a:xfrm>
            <a:off x="0" y="550506"/>
            <a:ext cx="9144000" cy="6307494"/>
          </a:xfrm>
        </p:spPr>
        <p:txBody>
          <a:bodyPr/>
          <a:lstStyle/>
          <a:p>
            <a:pPr marL="0" indent="0" algn="ctr">
              <a:buNone/>
            </a:pPr>
            <a:r>
              <a:rPr dirty="0"/>
              <a:t>Display output of SQL queries here</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0630" y="1110343"/>
            <a:ext cx="2724538" cy="3900197"/>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73159" y="5153365"/>
            <a:ext cx="2886465" cy="1530609"/>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0630" y="5153365"/>
            <a:ext cx="2724538" cy="1530609"/>
          </a:xfrm>
          <a:prstGeom prst="rect">
            <a:avLst/>
          </a:prstGeom>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77615" y="5153366"/>
            <a:ext cx="2998433" cy="1530608"/>
          </a:xfrm>
          <a:prstGeom prst="rect">
            <a:avLst/>
          </a:prstGeom>
        </p:spPr>
      </p:pic>
      <p:pic>
        <p:nvPicPr>
          <p:cNvPr id="8" name="Picture 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73159" y="1110344"/>
            <a:ext cx="6002889" cy="39001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74645"/>
            <a:ext cx="8229600" cy="569167"/>
          </a:xfrm>
        </p:spPr>
        <p:txBody>
          <a:bodyPr>
            <a:normAutofit fontScale="90000"/>
          </a:bodyPr>
          <a:lstStyle/>
          <a:p>
            <a:r>
              <a:rPr dirty="0"/>
              <a:t>Project Summary</a:t>
            </a:r>
          </a:p>
        </p:txBody>
      </p:sp>
      <p:sp>
        <p:nvSpPr>
          <p:cNvPr id="3" name="Content Placeholder 2"/>
          <p:cNvSpPr>
            <a:spLocks noGrp="1"/>
          </p:cNvSpPr>
          <p:nvPr>
            <p:ph idx="1"/>
          </p:nvPr>
        </p:nvSpPr>
        <p:spPr>
          <a:xfrm>
            <a:off x="121298" y="657808"/>
            <a:ext cx="8901404" cy="6125547"/>
          </a:xfrm>
        </p:spPr>
        <p:txBody>
          <a:bodyPr>
            <a:normAutofit fontScale="92500" lnSpcReduction="10000"/>
          </a:bodyPr>
          <a:lstStyle/>
          <a:p>
            <a:pPr marL="0" indent="0" algn="ctr">
              <a:buNone/>
            </a:pPr>
            <a:r>
              <a:rPr dirty="0"/>
              <a:t>Summary of findings and key learnings</a:t>
            </a:r>
            <a:endParaRPr lang="en-GB" dirty="0"/>
          </a:p>
          <a:p>
            <a:pPr marL="0" indent="0" algn="ctr">
              <a:buNone/>
            </a:pPr>
            <a:r>
              <a:rPr lang="en-GB" sz="2000" b="1" dirty="0">
                <a:solidFill>
                  <a:schemeClr val="bg1"/>
                </a:solidFill>
              </a:rPr>
              <a:t>Key Findings:</a:t>
            </a:r>
            <a:endParaRPr lang="en-GB" sz="2000" dirty="0">
              <a:solidFill>
                <a:schemeClr val="bg1"/>
              </a:solidFill>
            </a:endParaRPr>
          </a:p>
          <a:p>
            <a:r>
              <a:rPr lang="en-GB" sz="2000" b="1" dirty="0"/>
              <a:t>Loan Data Analysis</a:t>
            </a:r>
            <a:endParaRPr lang="en-GB" sz="2000" dirty="0"/>
          </a:p>
          <a:p>
            <a:pPr lvl="1"/>
            <a:r>
              <a:rPr lang="en-GB" sz="2000" dirty="0">
                <a:solidFill>
                  <a:schemeClr val="bg1"/>
                </a:solidFill>
              </a:rPr>
              <a:t>Total loan applications stood at </a:t>
            </a:r>
            <a:r>
              <a:rPr lang="en-GB" sz="2000" b="1" dirty="0"/>
              <a:t>65.5K</a:t>
            </a:r>
            <a:r>
              <a:rPr lang="en-GB" sz="2000" dirty="0"/>
              <a:t>, </a:t>
            </a:r>
            <a:r>
              <a:rPr lang="en-GB" sz="2000" dirty="0">
                <a:solidFill>
                  <a:schemeClr val="bg1"/>
                </a:solidFill>
              </a:rPr>
              <a:t>with a funded amount of </a:t>
            </a:r>
            <a:r>
              <a:rPr lang="en-GB" sz="2000" b="1" dirty="0"/>
              <a:t>$751M</a:t>
            </a:r>
            <a:r>
              <a:rPr lang="en-GB" sz="2000" dirty="0"/>
              <a:t> and </a:t>
            </a:r>
            <a:r>
              <a:rPr lang="en-GB" sz="2000" dirty="0">
                <a:solidFill>
                  <a:schemeClr val="bg1"/>
                </a:solidFill>
              </a:rPr>
              <a:t>collections of </a:t>
            </a:r>
            <a:r>
              <a:rPr lang="en-GB" sz="2000" b="1" dirty="0"/>
              <a:t>$814.9M</a:t>
            </a:r>
            <a:r>
              <a:rPr lang="en-GB" sz="2000" dirty="0"/>
              <a:t>.</a:t>
            </a:r>
          </a:p>
          <a:p>
            <a:pPr lvl="1"/>
            <a:r>
              <a:rPr lang="en-GB" sz="2000" dirty="0">
                <a:solidFill>
                  <a:schemeClr val="bg1"/>
                </a:solidFill>
              </a:rPr>
              <a:t>The</a:t>
            </a:r>
            <a:r>
              <a:rPr lang="en-GB" sz="2000" dirty="0"/>
              <a:t> </a:t>
            </a:r>
            <a:r>
              <a:rPr lang="en-GB" sz="2000" b="1" dirty="0"/>
              <a:t>average interest rate (12%)</a:t>
            </a:r>
            <a:r>
              <a:rPr lang="en-GB" sz="2000" dirty="0"/>
              <a:t> </a:t>
            </a:r>
            <a:r>
              <a:rPr lang="en-GB" sz="2000" dirty="0">
                <a:solidFill>
                  <a:schemeClr val="bg1"/>
                </a:solidFill>
              </a:rPr>
              <a:t>and </a:t>
            </a:r>
            <a:r>
              <a:rPr lang="en-GB" sz="2000" b="1" dirty="0"/>
              <a:t>active loans (28,654)</a:t>
            </a:r>
            <a:r>
              <a:rPr lang="en-GB" sz="2000" dirty="0"/>
              <a:t> </a:t>
            </a:r>
            <a:r>
              <a:rPr lang="en-GB" sz="2000" dirty="0">
                <a:solidFill>
                  <a:schemeClr val="bg1"/>
                </a:solidFill>
              </a:rPr>
              <a:t>highlight the bank’s significant lending portfolio.</a:t>
            </a:r>
          </a:p>
          <a:p>
            <a:pPr lvl="1"/>
            <a:r>
              <a:rPr lang="en-GB" sz="2000" b="1" dirty="0"/>
              <a:t>Disbursement trends</a:t>
            </a:r>
            <a:r>
              <a:rPr lang="en-GB" sz="2000" dirty="0"/>
              <a:t> </a:t>
            </a:r>
            <a:r>
              <a:rPr lang="en-GB" sz="2000" dirty="0">
                <a:solidFill>
                  <a:schemeClr val="bg1"/>
                </a:solidFill>
              </a:rPr>
              <a:t>show yearly variation in sanctioned loans.</a:t>
            </a:r>
          </a:p>
          <a:p>
            <a:pPr lvl="1"/>
            <a:r>
              <a:rPr lang="en-GB" sz="2000" dirty="0">
                <a:solidFill>
                  <a:schemeClr val="bg1"/>
                </a:solidFill>
              </a:rPr>
              <a:t>Region-wise, branch-wise, and purpose-wise dashboards reveal performance differences across geographies and loan categories.</a:t>
            </a:r>
          </a:p>
          <a:p>
            <a:r>
              <a:rPr lang="en-GB" sz="2000" b="1" dirty="0"/>
              <a:t>Credit &amp; Debit Data Analysis</a:t>
            </a:r>
            <a:endParaRPr lang="en-GB" sz="2000" dirty="0"/>
          </a:p>
          <a:p>
            <a:pPr lvl="1"/>
            <a:r>
              <a:rPr lang="en-GB" sz="2000" b="1" dirty="0"/>
              <a:t>Total Credit ($127.6M)</a:t>
            </a:r>
            <a:r>
              <a:rPr lang="en-GB" sz="2000" dirty="0"/>
              <a:t> </a:t>
            </a:r>
            <a:r>
              <a:rPr lang="en-GB" sz="2000" dirty="0">
                <a:solidFill>
                  <a:schemeClr val="bg1"/>
                </a:solidFill>
              </a:rPr>
              <a:t>and</a:t>
            </a:r>
            <a:r>
              <a:rPr lang="en-GB" sz="2000" dirty="0"/>
              <a:t> </a:t>
            </a:r>
            <a:r>
              <a:rPr lang="en-GB" sz="2000" b="1" dirty="0"/>
              <a:t>Total Debit ($127.3M)</a:t>
            </a:r>
            <a:r>
              <a:rPr lang="en-GB" sz="2000" dirty="0"/>
              <a:t> </a:t>
            </a:r>
            <a:r>
              <a:rPr lang="en-GB" sz="2000" dirty="0">
                <a:solidFill>
                  <a:schemeClr val="bg1"/>
                </a:solidFill>
              </a:rPr>
              <a:t>values are almost balanced</a:t>
            </a:r>
            <a:r>
              <a:rPr lang="en-GB" sz="2000" dirty="0"/>
              <a:t>, </a:t>
            </a:r>
            <a:r>
              <a:rPr lang="en-GB" sz="2000" dirty="0">
                <a:solidFill>
                  <a:schemeClr val="bg1"/>
                </a:solidFill>
              </a:rPr>
              <a:t>giving a </a:t>
            </a:r>
            <a:r>
              <a:rPr lang="en-GB" sz="2000" b="1" dirty="0"/>
              <a:t>Credit to Debit Ratio of 1.0025</a:t>
            </a:r>
            <a:r>
              <a:rPr lang="en-GB" sz="2000" dirty="0"/>
              <a:t>.</a:t>
            </a:r>
          </a:p>
          <a:p>
            <a:pPr lvl="1"/>
            <a:r>
              <a:rPr lang="en-GB" sz="2000" b="1" dirty="0"/>
              <a:t>Transaction </a:t>
            </a:r>
            <a:r>
              <a:rPr lang="en-GB" sz="2000" b="1" dirty="0">
                <a:solidFill>
                  <a:schemeClr val="bg1"/>
                </a:solidFill>
              </a:rPr>
              <a:t>methods</a:t>
            </a:r>
            <a:r>
              <a:rPr lang="en-GB" sz="2000" dirty="0">
                <a:solidFill>
                  <a:schemeClr val="bg1"/>
                </a:solidFill>
              </a:rPr>
              <a:t> were evenly distributed: Debit Card (34%), Bank Transfer (33%), Credit Card (33%).</a:t>
            </a:r>
          </a:p>
          <a:p>
            <a:pPr lvl="1"/>
            <a:r>
              <a:rPr lang="en-GB" sz="2000" b="1" dirty="0"/>
              <a:t>High-Risk Transactions</a:t>
            </a:r>
            <a:r>
              <a:rPr lang="en-GB" sz="2000" dirty="0"/>
              <a:t> </a:t>
            </a:r>
            <a:r>
              <a:rPr lang="en-GB" sz="2000" dirty="0">
                <a:solidFill>
                  <a:schemeClr val="bg1"/>
                </a:solidFill>
              </a:rPr>
              <a:t>were flagged in both credit and debit cards (~13.6K each), requiring stronger fraud detection</a:t>
            </a:r>
            <a:r>
              <a:rPr lang="en-GB" sz="2000" dirty="0"/>
              <a:t>.</a:t>
            </a:r>
          </a:p>
          <a:p>
            <a:pPr lvl="1"/>
            <a:r>
              <a:rPr lang="en-GB" sz="2000" dirty="0">
                <a:solidFill>
                  <a:schemeClr val="bg1"/>
                </a:solidFill>
              </a:rPr>
              <a:t>Among banks</a:t>
            </a:r>
            <a:r>
              <a:rPr lang="en-GB" sz="2000" dirty="0"/>
              <a:t>, </a:t>
            </a:r>
            <a:r>
              <a:rPr lang="en-GB" sz="2000" b="1" dirty="0"/>
              <a:t>Kotak Mahindra Bank  ($28.5M)</a:t>
            </a:r>
            <a:r>
              <a:rPr lang="en-GB" sz="2000" dirty="0"/>
              <a:t> </a:t>
            </a:r>
            <a:r>
              <a:rPr lang="en-GB" sz="2000" dirty="0">
                <a:solidFill>
                  <a:schemeClr val="bg1"/>
                </a:solidFill>
              </a:rPr>
              <a:t>showed the highest transaction volume, followed by </a:t>
            </a:r>
            <a:r>
              <a:rPr lang="en-GB" sz="2000" b="1" dirty="0"/>
              <a:t>Punjab National Bank, SBI, ICICI, HDFC, and Axis</a:t>
            </a:r>
            <a:r>
              <a:rPr lang="en-GB" sz="2000" dirty="0"/>
              <a:t> </a:t>
            </a:r>
            <a:r>
              <a:rPr lang="en-GB" sz="2000" dirty="0">
                <a:solidFill>
                  <a:schemeClr val="bg1"/>
                </a:solidFill>
              </a:rPr>
              <a:t>with similar volumes.</a:t>
            </a:r>
          </a:p>
          <a:p>
            <a:pPr marL="457200" lvl="1" indent="0">
              <a:buNone/>
            </a:pPr>
            <a:endParaRPr lang="en-GB" dirty="0"/>
          </a:p>
          <a:p>
            <a:pPr marL="0" indent="0" algn="ctr">
              <a:buNone/>
            </a:pP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21299"/>
            <a:ext cx="7772400" cy="699795"/>
          </a:xfrm>
        </p:spPr>
        <p:txBody>
          <a:bodyPr>
            <a:normAutofit fontScale="90000"/>
          </a:bodyPr>
          <a:lstStyle/>
          <a:p>
            <a:r>
              <a:rPr lang="en-GB" b="1" dirty="0"/>
              <a:t>Key Learnings</a:t>
            </a:r>
            <a:endParaRPr lang="en-GB" dirty="0"/>
          </a:p>
        </p:txBody>
      </p:sp>
      <p:sp>
        <p:nvSpPr>
          <p:cNvPr id="3" name="Subtitle 2"/>
          <p:cNvSpPr>
            <a:spLocks noGrp="1"/>
          </p:cNvSpPr>
          <p:nvPr>
            <p:ph type="subTitle" idx="1"/>
          </p:nvPr>
        </p:nvSpPr>
        <p:spPr>
          <a:xfrm>
            <a:off x="251927" y="821094"/>
            <a:ext cx="8406881" cy="5840963"/>
          </a:xfrm>
          <a:ln>
            <a:solidFill>
              <a:schemeClr val="tx1"/>
            </a:solidFill>
          </a:ln>
        </p:spPr>
        <p:txBody>
          <a:bodyPr>
            <a:normAutofit/>
          </a:bodyPr>
          <a:lstStyle/>
          <a:p>
            <a:pPr lvl="1" defTabSz="914400" eaLnBrk="0" fontAlgn="base" hangingPunct="0">
              <a:spcBef>
                <a:spcPct val="0"/>
              </a:spcBef>
              <a:spcAft>
                <a:spcPct val="0"/>
              </a:spcAft>
            </a:pPr>
            <a:endParaRPr lang="en-US" altLang="en-US" sz="1400" dirty="0">
              <a:solidFill>
                <a:schemeClr val="tx1"/>
              </a:solidFill>
              <a:latin typeface="Arial" panose="020B0604020202020204" pitchFamily="34" charset="0"/>
            </a:endParaRP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KPI Tracking Improves Decisions</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Monitoring metrics like active loans, interest collected, and disbursement trends helps banks </a:t>
            </a:r>
            <a:r>
              <a:rPr lang="en-US" altLang="en-US" sz="1400" b="1" dirty="0">
                <a:solidFill>
                  <a:schemeClr val="tx1"/>
                </a:solidFill>
                <a:latin typeface="Arial" panose="020B0604020202020204" pitchFamily="34" charset="0"/>
              </a:rPr>
              <a:t>align with business goals</a:t>
            </a:r>
            <a:r>
              <a:rPr lang="en-US" altLang="en-US" sz="1400" dirty="0">
                <a:solidFill>
                  <a:schemeClr val="tx1"/>
                </a:solidFill>
                <a:latin typeface="Arial" panose="020B0604020202020204" pitchFamily="34" charset="0"/>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Visualization Enhances Understanding</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Dashboards (Power BI, Tableau, Axial) make complex data easier to interpret.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Branch &amp; Bank-Level Insights</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Comparing performance across branches and banks supports </a:t>
            </a:r>
            <a:r>
              <a:rPr lang="en-US" altLang="en-US" sz="1400" b="1" dirty="0">
                <a:solidFill>
                  <a:schemeClr val="bg1"/>
                </a:solidFill>
                <a:latin typeface="Arial" panose="020B0604020202020204" pitchFamily="34" charset="0"/>
              </a:rPr>
              <a:t>strategic planning</a:t>
            </a:r>
            <a:endParaRPr lang="en-US" altLang="en-US" sz="1400" dirty="0">
              <a:solidFill>
                <a:schemeClr val="bg1"/>
              </a:solidFill>
              <a:latin typeface="Arial" panose="020B0604020202020204" pitchFamily="34" charset="0"/>
            </a:endParaRP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SQL + BI Integration</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Structured queries combined with visualization tools increase</a:t>
            </a:r>
            <a:r>
              <a:rPr lang="en-US" altLang="en-US" sz="1400" dirty="0">
                <a:solidFill>
                  <a:schemeClr val="tx1"/>
                </a:solidFill>
                <a:latin typeface="Arial" panose="020B0604020202020204" pitchFamily="34" charset="0"/>
              </a:rPr>
              <a:t> </a:t>
            </a:r>
            <a:r>
              <a:rPr lang="en-US" altLang="en-US" sz="1400" b="1" dirty="0">
                <a:solidFill>
                  <a:schemeClr val="tx1"/>
                </a:solidFill>
                <a:latin typeface="Arial" panose="020B0604020202020204" pitchFamily="34" charset="0"/>
              </a:rPr>
              <a:t>accuracy and accessibility</a:t>
            </a:r>
            <a:r>
              <a:rPr lang="en-US" altLang="en-US" sz="1400" dirty="0">
                <a:solidFill>
                  <a:schemeClr val="tx1"/>
                </a:solidFill>
                <a:latin typeface="Arial" panose="020B0604020202020204" pitchFamily="34" charset="0"/>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Customer </a:t>
            </a:r>
            <a:r>
              <a:rPr lang="en-US" altLang="en-US" sz="1400" b="1" dirty="0">
                <a:solidFill>
                  <a:schemeClr val="bg1"/>
                </a:solidFill>
                <a:latin typeface="Arial" panose="020B0604020202020204" pitchFamily="34" charset="0"/>
              </a:rPr>
              <a:t>Profiling</a:t>
            </a:r>
            <a:r>
              <a:rPr lang="en-US" altLang="en-US" sz="1400" dirty="0">
                <a:solidFill>
                  <a:schemeClr val="bg1"/>
                </a:solidFill>
                <a:latin typeface="Arial" panose="020B0604020202020204" pitchFamily="34" charset="0"/>
              </a:rPr>
              <a:t>  Age, grade, and purpose-based loan segmentation helps in </a:t>
            </a:r>
            <a:r>
              <a:rPr lang="en-US" altLang="en-US" sz="1400" b="1" dirty="0">
                <a:solidFill>
                  <a:schemeClr val="tx1"/>
                </a:solidFill>
                <a:latin typeface="Arial" panose="020B0604020202020204" pitchFamily="34" charset="0"/>
              </a:rPr>
              <a:t>targeted product offerings</a:t>
            </a:r>
            <a:r>
              <a:rPr lang="en-US" altLang="en-US" sz="1400" dirty="0">
                <a:solidFill>
                  <a:schemeClr val="tx1"/>
                </a:solidFill>
                <a:latin typeface="Arial" panose="020B0604020202020204" pitchFamily="34" charset="0"/>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Real-time Monitoring</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Dashboards provide </a:t>
            </a:r>
            <a:r>
              <a:rPr lang="en-US" altLang="en-US" sz="1400" b="1" dirty="0">
                <a:solidFill>
                  <a:schemeClr val="tx1"/>
                </a:solidFill>
                <a:latin typeface="Arial" panose="020B0604020202020204" pitchFamily="34" charset="0"/>
              </a:rPr>
              <a:t>timely alerts</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on risks and performance trends</a:t>
            </a:r>
            <a:r>
              <a:rPr lang="en-US" altLang="en-US" sz="1400" dirty="0">
                <a:solidFill>
                  <a:schemeClr val="tx1"/>
                </a:solidFill>
                <a:latin typeface="Arial" panose="020B0604020202020204" pitchFamily="34" charset="0"/>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Scalable Analytics Framework</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The project shows how analytics can be scaled to larger banking datasets in the future</a:t>
            </a:r>
            <a:endParaRPr lang="en-US" altLang="en-US" sz="1400" dirty="0">
              <a:solidFill>
                <a:schemeClr val="tx1"/>
              </a:solidFill>
              <a:latin typeface="Arial" panose="020B0604020202020204" pitchFamily="34" charset="0"/>
            </a:endParaRP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dirty="0">
                <a:solidFill>
                  <a:schemeClr val="bg1"/>
                </a:solidFill>
                <a:latin typeface="Arial" panose="020B0604020202020204" pitchFamily="34" charset="0"/>
              </a:rPr>
              <a:t>A nearly Balanced</a:t>
            </a:r>
            <a:r>
              <a:rPr lang="en-US" altLang="en-US" sz="1400" dirty="0">
                <a:solidFill>
                  <a:schemeClr val="tx1"/>
                </a:solidFill>
                <a:latin typeface="Arial" panose="020B0604020202020204" pitchFamily="34" charset="0"/>
              </a:rPr>
              <a:t> </a:t>
            </a:r>
            <a:r>
              <a:rPr lang="en-US" altLang="en-US" sz="1400" b="1" dirty="0">
                <a:solidFill>
                  <a:schemeClr val="tx1"/>
                </a:solidFill>
                <a:latin typeface="Arial" panose="020B0604020202020204" pitchFamily="34" charset="0"/>
              </a:rPr>
              <a:t>Credit-debit ratio</a:t>
            </a:r>
            <a:r>
              <a:rPr lang="en-US" altLang="en-US" sz="1400" dirty="0">
                <a:solidFill>
                  <a:schemeClr val="tx1"/>
                </a:solidFill>
                <a:latin typeface="Arial" panose="020B0604020202020204" pitchFamily="34" charset="0"/>
              </a:rPr>
              <a:t> </a:t>
            </a:r>
            <a:r>
              <a:rPr lang="en-US" altLang="en-US" sz="1400" dirty="0">
                <a:solidFill>
                  <a:schemeClr val="bg1"/>
                </a:solidFill>
                <a:latin typeface="Arial" panose="020B0604020202020204" pitchFamily="34" charset="0"/>
              </a:rPr>
              <a:t>indicates strong customer financial discipline.</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US" altLang="en-US" sz="1400" b="1" dirty="0">
                <a:solidFill>
                  <a:schemeClr val="tx1"/>
                </a:solidFill>
                <a:latin typeface="Arial" panose="020B0604020202020204" pitchFamily="34" charset="0"/>
              </a:rPr>
              <a:t>High-risk </a:t>
            </a:r>
            <a:r>
              <a:rPr lang="en-US" altLang="en-US" sz="1400" b="1" dirty="0">
                <a:solidFill>
                  <a:schemeClr val="bg1"/>
                </a:solidFill>
                <a:latin typeface="Arial" panose="020B0604020202020204" pitchFamily="34" charset="0"/>
              </a:rPr>
              <a:t>transaction </a:t>
            </a:r>
            <a:r>
              <a:rPr lang="en-US" altLang="en-US" sz="1400" dirty="0">
                <a:solidFill>
                  <a:schemeClr val="bg1"/>
                </a:solidFill>
                <a:latin typeface="Arial" panose="020B0604020202020204" pitchFamily="34" charset="0"/>
              </a:rPr>
              <a:t>monitoring is crucial , especially for credit and debit card usage</a:t>
            </a:r>
            <a:r>
              <a:rPr lang="en-US" altLang="en-US" sz="1400" dirty="0">
                <a:solidFill>
                  <a:schemeClr val="tx1"/>
                </a:solidFill>
                <a:latin typeface="Arial" panose="020B0604020202020204" pitchFamily="34" charset="0"/>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GB" sz="1400" b="1" dirty="0">
                <a:solidFill>
                  <a:schemeClr val="tx1"/>
                </a:solidFill>
              </a:rPr>
              <a:t>Loan disbursement and repayment trends </a:t>
            </a:r>
            <a:r>
              <a:rPr lang="en-GB" sz="1400" dirty="0">
                <a:solidFill>
                  <a:schemeClr val="bg1"/>
                </a:solidFill>
              </a:rPr>
              <a:t>reveal valuable insights for </a:t>
            </a:r>
            <a:r>
              <a:rPr lang="en-GB" sz="1400" b="1" dirty="0">
                <a:solidFill>
                  <a:schemeClr val="tx1"/>
                </a:solidFill>
              </a:rPr>
              <a:t>strategic decision-making</a:t>
            </a:r>
            <a:r>
              <a:rPr lang="en-GB" sz="1400" dirty="0">
                <a:solidFill>
                  <a:schemeClr val="tx1"/>
                </a:solidFill>
              </a:rPr>
              <a:t>.</a:t>
            </a:r>
          </a:p>
          <a:p>
            <a:pPr marL="285750" lvl="0" indent="-285750" algn="l" defTabSz="914400" eaLnBrk="0" fontAlgn="base" hangingPunct="0">
              <a:lnSpc>
                <a:spcPct val="150000"/>
              </a:lnSpc>
              <a:spcBef>
                <a:spcPct val="0"/>
              </a:spcBef>
              <a:spcAft>
                <a:spcPct val="0"/>
              </a:spcAft>
              <a:buFont typeface="Arial" panose="020B0604020202020204" pitchFamily="34" charset="0"/>
              <a:buChar char="•"/>
            </a:pPr>
            <a:r>
              <a:rPr lang="en-GB" sz="1400" dirty="0">
                <a:solidFill>
                  <a:schemeClr val="bg1"/>
                </a:solidFill>
              </a:rPr>
              <a:t>Combining </a:t>
            </a:r>
            <a:r>
              <a:rPr lang="en-GB" sz="1400" b="1" dirty="0">
                <a:solidFill>
                  <a:schemeClr val="tx1"/>
                </a:solidFill>
              </a:rPr>
              <a:t>SQL queries with BI tools</a:t>
            </a:r>
            <a:r>
              <a:rPr lang="en-GB" sz="1400" dirty="0">
                <a:solidFill>
                  <a:schemeClr val="tx1"/>
                </a:solidFill>
              </a:rPr>
              <a:t> </a:t>
            </a:r>
            <a:r>
              <a:rPr lang="en-GB" sz="1400" dirty="0">
                <a:solidFill>
                  <a:schemeClr val="bg1"/>
                </a:solidFill>
              </a:rPr>
              <a:t>enhances both </a:t>
            </a:r>
            <a:r>
              <a:rPr lang="en-GB" sz="1400" b="1" dirty="0">
                <a:solidFill>
                  <a:schemeClr val="tx1"/>
                </a:solidFill>
              </a:rPr>
              <a:t>data accuracy and visualization power</a:t>
            </a:r>
            <a:r>
              <a:rPr lang="en-GB" sz="1400" dirty="0">
                <a:solidFill>
                  <a:schemeClr val="tx1"/>
                </a:solidFill>
              </a:rPr>
              <a:t>.</a:t>
            </a:r>
            <a:endParaRPr lang="en-US" altLang="en-US" sz="1400" dirty="0">
              <a:solidFill>
                <a:schemeClr val="tx1"/>
              </a:solidFill>
              <a:latin typeface="Arial" panose="020B0604020202020204" pitchFamily="34" charset="0"/>
            </a:endParaRPr>
          </a:p>
          <a:p>
            <a:pPr marL="285750" lvl="0" indent="-285750" algn="l" defTabSz="914400" eaLnBrk="0" fontAlgn="base" hangingPunct="0">
              <a:spcBef>
                <a:spcPct val="0"/>
              </a:spcBef>
              <a:spcAft>
                <a:spcPct val="0"/>
              </a:spcAft>
              <a:buFont typeface="Arial" panose="020B0604020202020204" pitchFamily="34" charset="0"/>
              <a:buChar char="•"/>
            </a:pPr>
            <a:endParaRPr lang="en-GB" dirty="0"/>
          </a:p>
        </p:txBody>
      </p:sp>
      <p:sp>
        <p:nvSpPr>
          <p:cNvPr id="4" name="Rectangle 1"/>
          <p:cNvSpPr>
            <a:spLocks noChangeArrowheads="1"/>
          </p:cNvSpPr>
          <p:nvPr/>
        </p:nvSpPr>
        <p:spPr bwMode="auto">
          <a:xfrm>
            <a:off x="301884" y="2374321"/>
            <a:ext cx="81563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1" defTabSz="914400" eaLnBrk="0" fontAlgn="base" hangingPunct="0">
              <a:spcBef>
                <a:spcPct val="0"/>
              </a:spcBef>
              <a:spcAft>
                <a:spcPct val="0"/>
              </a:spcAft>
            </a:pPr>
            <a:r>
              <a:rPr kumimoji="0" lang="en-US" altLang="en-US" sz="14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1444512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28651" y="464393"/>
            <a:ext cx="7772400" cy="526208"/>
          </a:xfrm>
        </p:spPr>
        <p:txBody>
          <a:bodyPr>
            <a:normAutofit fontScale="90000"/>
          </a:bodyPr>
          <a:lstStyle/>
          <a:p>
            <a:r>
              <a:rPr lang="en-GB" sz="4000" dirty="0"/>
              <a:t>Solutions &amp; Improvements</a:t>
            </a:r>
          </a:p>
        </p:txBody>
      </p:sp>
      <p:sp>
        <p:nvSpPr>
          <p:cNvPr id="5" name="Rectangle 1"/>
          <p:cNvSpPr>
            <a:spLocks noGrp="1" noChangeArrowheads="1"/>
          </p:cNvSpPr>
          <p:nvPr>
            <p:ph type="subTitle" idx="1"/>
          </p:nvPr>
        </p:nvSpPr>
        <p:spPr bwMode="auto">
          <a:xfrm>
            <a:off x="114301" y="1178053"/>
            <a:ext cx="8801100"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Customer Segmentation &amp; </a:t>
            </a:r>
            <a:r>
              <a:rPr kumimoji="0" lang="en-US" altLang="en-US" sz="1400" b="1" i="0" u="none" strike="noStrike" cap="none" normalizeH="0" baseline="0" dirty="0">
                <a:ln>
                  <a:noFill/>
                </a:ln>
                <a:solidFill>
                  <a:schemeClr val="bg1"/>
                </a:solidFill>
                <a:effectLst/>
                <a:latin typeface="Arial" panose="020B0604020202020204" pitchFamily="34" charset="0"/>
              </a:rPr>
              <a:t>Targeting</a:t>
            </a:r>
            <a:r>
              <a:rPr lang="en-US" altLang="en-US" sz="1400" dirty="0">
                <a:solidFill>
                  <a:schemeClr val="bg1"/>
                </a:solidFill>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Analyze age, income, and purpose-based loan data to offer </a:t>
            </a:r>
            <a:r>
              <a:rPr kumimoji="0" lang="en-US" altLang="en-US" sz="1400" b="1" i="0" u="none" strike="noStrike" cap="none" normalizeH="0" baseline="0" dirty="0">
                <a:ln>
                  <a:noFill/>
                </a:ln>
                <a:solidFill>
                  <a:schemeClr val="bg1"/>
                </a:solidFill>
                <a:effectLst/>
                <a:latin typeface="Arial" panose="020B0604020202020204" pitchFamily="34" charset="0"/>
              </a:rPr>
              <a:t>personalized loan products</a:t>
            </a:r>
            <a:r>
              <a:rPr kumimoji="0" lang="en-US" altLang="en-US" sz="1400" b="0" i="0" u="none" strike="noStrike" cap="none" normalizeH="0" baseline="0" dirty="0">
                <a:ln>
                  <a:noFill/>
                </a:ln>
                <a:solidFill>
                  <a:schemeClr val="bg1"/>
                </a:solidFill>
                <a:effectLst/>
                <a:latin typeface="Arial" panose="020B0604020202020204" pitchFamily="34" charset="0"/>
              </a:rPr>
              <a:t>.</a:t>
            </a:r>
          </a:p>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dirty="0">
                <a:ln>
                  <a:noFill/>
                </a:ln>
                <a:solidFill>
                  <a:schemeClr val="bg1"/>
                </a:solidFill>
                <a:effectLst/>
                <a:latin typeface="Arial" panose="020B0604020202020204" pitchFamily="34" charset="0"/>
              </a:rPr>
              <a:t>Improve </a:t>
            </a:r>
            <a:r>
              <a:rPr kumimoji="0" lang="en-US" altLang="en-US" sz="1400" b="1" i="0" u="none" strike="noStrike" cap="none" normalizeH="0" baseline="0" dirty="0">
                <a:ln>
                  <a:noFill/>
                </a:ln>
                <a:solidFill>
                  <a:schemeClr val="tx1"/>
                </a:solidFill>
                <a:effectLst/>
                <a:latin typeface="Arial" panose="020B0604020202020204" pitchFamily="34" charset="0"/>
              </a:rPr>
              <a:t>cross-selling opportunities</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(credit cards, insurance, savings plans).</a:t>
            </a:r>
          </a:p>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Branch &amp; Bank Performance Optimization</a:t>
            </a:r>
            <a:r>
              <a:rPr lang="en-US" altLang="en-US" sz="1400" dirty="0">
                <a:solidFill>
                  <a:schemeClr val="tx1"/>
                </a:solidFill>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Use KPIs to </a:t>
            </a:r>
            <a:r>
              <a:rPr kumimoji="0" lang="en-US" altLang="en-US" sz="1400" b="1" i="0" u="none" strike="noStrike" cap="none" normalizeH="0" baseline="0" dirty="0">
                <a:ln>
                  <a:noFill/>
                </a:ln>
                <a:solidFill>
                  <a:schemeClr val="bg1"/>
                </a:solidFill>
                <a:effectLst/>
                <a:latin typeface="Arial" panose="020B0604020202020204" pitchFamily="34" charset="0"/>
              </a:rPr>
              <a:t>identify underperforming branches</a:t>
            </a:r>
            <a:r>
              <a:rPr kumimoji="0" lang="en-US" altLang="en-US" sz="1400" b="0" i="0" u="none" strike="noStrike" cap="none" normalizeH="0" baseline="0" dirty="0">
                <a:ln>
                  <a:noFill/>
                </a:ln>
                <a:solidFill>
                  <a:schemeClr val="bg1"/>
                </a:solidFill>
                <a:effectLst/>
                <a:latin typeface="Arial" panose="020B0604020202020204" pitchFamily="34" charset="0"/>
              </a:rPr>
              <a:t> and improve training, resources, and policies.</a:t>
            </a:r>
            <a:r>
              <a:rPr kumimoji="0" lang="en-US" altLang="en-US" sz="1400" b="0" i="0" u="none" strike="noStrike" cap="none" normalizeH="0" dirty="0">
                <a:ln>
                  <a:noFill/>
                </a:ln>
                <a:solidFill>
                  <a:schemeClr val="bg1"/>
                </a:solidFill>
                <a:effectLst/>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Reward high-performing branches to maintain competitive spirit.</a:t>
            </a:r>
          </a:p>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Loan Portfolio Management</a:t>
            </a:r>
            <a:r>
              <a:rPr lang="en-US" altLang="en-US" sz="1400" dirty="0">
                <a:solidFill>
                  <a:schemeClr val="tx1"/>
                </a:solidFill>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Closely monitor </a:t>
            </a:r>
            <a:r>
              <a:rPr kumimoji="0" lang="en-US" altLang="en-US" sz="1400" b="1" i="0" u="none" strike="noStrike" cap="none" normalizeH="0" baseline="0" dirty="0">
                <a:ln>
                  <a:noFill/>
                </a:ln>
                <a:solidFill>
                  <a:schemeClr val="tx1"/>
                </a:solidFill>
                <a:effectLst/>
                <a:latin typeface="Arial" panose="020B0604020202020204" pitchFamily="34" charset="0"/>
              </a:rPr>
              <a:t>disbursement vs. repayment trends</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to minimize defaults.</a:t>
            </a:r>
          </a:p>
          <a:p>
            <a:pPr marL="0" marR="0" lvl="0" indent="0" algn="l" defTabSz="914400" rtl="0" eaLnBrk="0" fontAlgn="base" latinLnBrk="0" hangingPunct="0">
              <a:lnSpc>
                <a:spcPct val="200000"/>
              </a:lnSpc>
              <a:spcBef>
                <a:spcPct val="0"/>
              </a:spcBef>
              <a:spcAft>
                <a:spcPct val="0"/>
              </a:spcAft>
              <a:buClrTx/>
              <a:buSzTx/>
              <a:tabLst/>
            </a:pPr>
            <a:r>
              <a:rPr kumimoji="0" lang="en-US" altLang="en-US" sz="1400" b="0" i="0" u="none" strike="noStrike" cap="none" normalizeH="0" baseline="0" dirty="0">
                <a:ln>
                  <a:noFill/>
                </a:ln>
                <a:solidFill>
                  <a:schemeClr val="bg1"/>
                </a:solidFill>
                <a:effectLst/>
                <a:latin typeface="Arial" panose="020B0604020202020204" pitchFamily="34" charset="0"/>
              </a:rPr>
              <a:t>      Adjust </a:t>
            </a:r>
            <a:r>
              <a:rPr kumimoji="0" lang="en-US" altLang="en-US" sz="1400" b="1" i="0" u="none" strike="noStrike" cap="none" normalizeH="0" baseline="0" dirty="0">
                <a:ln>
                  <a:noFill/>
                </a:ln>
                <a:solidFill>
                  <a:schemeClr val="bg1"/>
                </a:solidFill>
                <a:effectLst/>
                <a:latin typeface="Arial" panose="020B0604020202020204" pitchFamily="34" charset="0"/>
              </a:rPr>
              <a:t>interest rates and loan terms</a:t>
            </a:r>
            <a:r>
              <a:rPr kumimoji="0" lang="en-US" altLang="en-US" sz="1400" b="0" i="0" u="none" strike="noStrike" cap="none" normalizeH="0" baseline="0" dirty="0">
                <a:ln>
                  <a:noFill/>
                </a:ln>
                <a:solidFill>
                  <a:schemeClr val="bg1"/>
                </a:solidFill>
                <a:effectLst/>
                <a:latin typeface="Arial" panose="020B0604020202020204" pitchFamily="34" charset="0"/>
              </a:rPr>
              <a:t> based on customer profiles and risk levels.</a:t>
            </a:r>
          </a:p>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Digital Banking Enhancements</a:t>
            </a:r>
            <a:r>
              <a:rPr lang="en-US" altLang="en-US" sz="1400" dirty="0">
                <a:solidFill>
                  <a:schemeClr val="tx1"/>
                </a:solidFill>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Encourage more customers to use </a:t>
            </a:r>
            <a:r>
              <a:rPr kumimoji="0" lang="en-US" altLang="en-US" sz="1400" b="1" i="0" u="none" strike="noStrike" cap="none" normalizeH="0" baseline="0" dirty="0">
                <a:ln>
                  <a:noFill/>
                </a:ln>
                <a:solidFill>
                  <a:schemeClr val="bg1"/>
                </a:solidFill>
                <a:effectLst/>
                <a:latin typeface="Arial" panose="020B0604020202020204" pitchFamily="34" charset="0"/>
              </a:rPr>
              <a:t>online banking, UPI, and mobile apps</a:t>
            </a:r>
            <a:r>
              <a:rPr kumimoji="0" lang="en-US" altLang="en-US" sz="1400" b="0" i="0" u="none" strike="noStrike" cap="none" normalizeH="0" baseline="0" dirty="0">
                <a:ln>
                  <a:noFill/>
                </a:ln>
                <a:solidFill>
                  <a:schemeClr val="bg1"/>
                </a:solidFill>
                <a:effectLst/>
                <a:latin typeface="Arial" panose="020B0604020202020204" pitchFamily="34" charset="0"/>
              </a:rPr>
              <a:t> for transparent transactions. Strengthen cybersecurity to build trust in digital payments.</a:t>
            </a:r>
          </a:p>
          <a:p>
            <a:pPr marL="285750" marR="0" lvl="0" indent="-285750" algn="l" defTabSz="914400" rtl="0" eaLnBrk="0" fontAlgn="base" latinLnBrk="0" hangingPunct="0">
              <a:lnSpc>
                <a:spcPct val="200000"/>
              </a:lnSpc>
              <a:spcBef>
                <a:spcPct val="0"/>
              </a:spcBef>
              <a:spcAft>
                <a:spcPct val="0"/>
              </a:spcAft>
              <a:buClrTx/>
              <a:buSzTx/>
              <a:buFont typeface="Arial" panose="020B0604020202020204" pitchFamily="34" charset="0"/>
              <a:buChar char="•"/>
              <a:tabLst/>
            </a:pPr>
            <a:r>
              <a:rPr kumimoji="0" lang="en-US" altLang="en-US" sz="1400" b="1" i="0" u="none" strike="noStrike" cap="none" normalizeH="0" baseline="0" dirty="0">
                <a:ln>
                  <a:noFill/>
                </a:ln>
                <a:solidFill>
                  <a:schemeClr val="tx1"/>
                </a:solidFill>
                <a:effectLst/>
                <a:latin typeface="Arial" panose="020B0604020202020204" pitchFamily="34" charset="0"/>
              </a:rPr>
              <a:t>Data-Driven Decision Making</a:t>
            </a:r>
            <a:r>
              <a:rPr lang="en-US" altLang="en-US" sz="1400" dirty="0">
                <a:solidFill>
                  <a:schemeClr val="tx1"/>
                </a:solidFill>
                <a:latin typeface="Arial" panose="020B0604020202020204" pitchFamily="34" charset="0"/>
              </a:rPr>
              <a:t> </a:t>
            </a:r>
            <a:r>
              <a:rPr kumimoji="0" lang="en-US" altLang="en-US" sz="1400" b="0" i="0" u="none" strike="noStrike" cap="none" normalizeH="0" baseline="0" dirty="0">
                <a:ln>
                  <a:noFill/>
                </a:ln>
                <a:solidFill>
                  <a:schemeClr val="bg1"/>
                </a:solidFill>
                <a:effectLst/>
                <a:latin typeface="Arial" panose="020B0604020202020204" pitchFamily="34" charset="0"/>
              </a:rPr>
              <a:t>Use interactive dashboards (Power BI/Tableau) for </a:t>
            </a:r>
            <a:r>
              <a:rPr kumimoji="0" lang="en-US" altLang="en-US" sz="1400" b="1" i="0" u="none" strike="noStrike" cap="none" normalizeH="0" baseline="0" dirty="0">
                <a:ln>
                  <a:noFill/>
                </a:ln>
                <a:solidFill>
                  <a:schemeClr val="bg1"/>
                </a:solidFill>
                <a:effectLst/>
                <a:latin typeface="Arial" panose="020B0604020202020204" pitchFamily="34" charset="0"/>
              </a:rPr>
              <a:t>real-time executive decisions</a:t>
            </a:r>
            <a:r>
              <a:rPr kumimoji="0" lang="en-US" altLang="en-US" sz="1400" b="0" i="0" u="none" strike="noStrike" cap="none" normalizeH="0" baseline="0" dirty="0">
                <a:ln>
                  <a:noFill/>
                </a:ln>
                <a:solidFill>
                  <a:schemeClr val="bg1"/>
                </a:solidFill>
                <a:effectLst/>
                <a:latin typeface="Arial" panose="020B0604020202020204" pitchFamily="34" charset="0"/>
              </a:rPr>
              <a:t>.</a:t>
            </a:r>
            <a:r>
              <a:rPr lang="en-GB" sz="1400" dirty="0">
                <a:solidFill>
                  <a:schemeClr val="bg1"/>
                </a:solidFill>
              </a:rPr>
              <a:t>Integrate </a:t>
            </a:r>
            <a:r>
              <a:rPr lang="en-GB" sz="1400" b="1" dirty="0">
                <a:solidFill>
                  <a:schemeClr val="bg1"/>
                </a:solidFill>
              </a:rPr>
              <a:t>SQL </a:t>
            </a:r>
            <a:r>
              <a:rPr lang="en-GB" sz="1400" dirty="0">
                <a:solidFill>
                  <a:schemeClr val="bg1"/>
                </a:solidFill>
              </a:rPr>
              <a:t>for faster and error-free data analysis.</a:t>
            </a:r>
            <a:endParaRPr kumimoji="0" lang="en-US" altLang="en-US" sz="1400" b="0" i="0" u="none" strike="noStrike" cap="none" normalizeH="0" baseline="0" dirty="0">
              <a:ln>
                <a:noFill/>
              </a:ln>
              <a:solidFill>
                <a:schemeClr val="bg1"/>
              </a:solidFill>
              <a:effectLst/>
              <a:latin typeface="Arial" panose="020B0604020202020204" pitchFamily="34" charset="0"/>
            </a:endParaRPr>
          </a:p>
        </p:txBody>
      </p:sp>
    </p:spTree>
    <p:extLst>
      <p:ext uri="{BB962C8B-B14F-4D97-AF65-F5344CB8AC3E}">
        <p14:creationId xmlns:p14="http://schemas.microsoft.com/office/powerpoint/2010/main" val="10664317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54563" y="2710543"/>
            <a:ext cx="8229600" cy="643812"/>
          </a:xfrm>
        </p:spPr>
        <p:txBody>
          <a:bodyPr>
            <a:normAutofit fontScale="90000"/>
          </a:bodyPr>
          <a:lstStyle/>
          <a:p>
            <a:r>
              <a:rPr dirty="0">
                <a:solidFill>
                  <a:schemeClr val="bg1"/>
                </a:solidFill>
              </a:rPr>
              <a:t>Thank You</a:t>
            </a:r>
          </a:p>
        </p:txBody>
      </p:sp>
      <p:sp>
        <p:nvSpPr>
          <p:cNvPr id="3" name="Content Placeholder 2"/>
          <p:cNvSpPr>
            <a:spLocks noGrp="1"/>
          </p:cNvSpPr>
          <p:nvPr>
            <p:ph idx="1"/>
          </p:nvPr>
        </p:nvSpPr>
        <p:spPr/>
        <p:txBody>
          <a:bodyPr/>
          <a:lstStyle/>
          <a:p>
            <a:pPr marL="0" indent="0">
              <a:buNone/>
            </a:pPr>
            <a:r>
              <a:rPr dirty="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708</TotalTime>
  <Words>854</Words>
  <Application>Microsoft Office PowerPoint</Application>
  <PresentationFormat>On-screen Show (4:3)</PresentationFormat>
  <Paragraphs>73</Paragraphs>
  <Slides>11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Introduction</vt:lpstr>
      <vt:lpstr>Problem Statement</vt:lpstr>
      <vt:lpstr>KPIs &amp; Insights</vt:lpstr>
      <vt:lpstr>Excel Dashboard</vt:lpstr>
      <vt:lpstr>Power BI Dashboard</vt:lpstr>
      <vt:lpstr>Tableau Dashboard</vt:lpstr>
      <vt:lpstr>SQL Queries Output</vt:lpstr>
      <vt:lpstr>Project Summary</vt:lpstr>
      <vt:lpstr>Key Learnings</vt:lpstr>
      <vt:lpstr>Solutions &amp; Improvements</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Analytics</dc:title>
  <dc:subject/>
  <dc:creator>Ratnesh Ranjan Jha</dc:creator>
  <cp:keywords/>
  <dc:description>generated using python-pptx</dc:description>
  <cp:lastModifiedBy>MOHAMED KAMIL</cp:lastModifiedBy>
  <cp:revision>24</cp:revision>
  <dcterms:created xsi:type="dcterms:W3CDTF">2013-01-27T09:14:16Z</dcterms:created>
  <dcterms:modified xsi:type="dcterms:W3CDTF">2026-03-11T02:09:17Z</dcterms:modified>
  <cp:category/>
</cp:coreProperties>
</file>