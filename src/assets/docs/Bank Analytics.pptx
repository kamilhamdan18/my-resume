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0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52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2D140-064D-45B5-8194-48025F0C2F39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B50D6-03E7-4149-8A76-A70C7CA184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8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3B50D6-03E7-4149-8A76-A70C7CA1845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816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30"/>
            <a:ext cx="8229600" cy="961052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schemeClr val="bg1"/>
                </a:solidFill>
              </a:rPr>
              <a:t>Project Title:</a:t>
            </a:r>
            <a:r>
              <a:rPr lang="en-GB" sz="3600" dirty="0" smtClean="0">
                <a:solidFill>
                  <a:schemeClr val="bg1"/>
                </a:solidFill>
              </a:rPr>
              <a:t>  </a:t>
            </a:r>
            <a:r>
              <a:rPr lang="en-GB" sz="3600" b="1" dirty="0" smtClean="0">
                <a:solidFill>
                  <a:schemeClr val="bg1"/>
                </a:solidFill>
              </a:rPr>
              <a:t>Bank </a:t>
            </a:r>
            <a:r>
              <a:rPr lang="en-GB" sz="3600" b="1" dirty="0">
                <a:solidFill>
                  <a:schemeClr val="bg1"/>
                </a:solidFill>
              </a:rPr>
              <a:t>Analytics Project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57201" y="1517943"/>
            <a:ext cx="3956180" cy="3604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Presented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Shiva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Sai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Snehitha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Uday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Ajinkya Jadav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Abhijith M.V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Ratnesh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9960" y="167951"/>
            <a:ext cx="8808097" cy="895739"/>
          </a:xfrm>
          <a:prstGeom prst="roundRect">
            <a:avLst/>
          </a:prstGeom>
          <a:gradFill>
            <a:gsLst>
              <a:gs pos="19000">
                <a:srgbClr val="FFFF00">
                  <a:lumMod val="99000"/>
                  <a:alpha val="0"/>
                </a:srgbClr>
              </a:gs>
              <a:gs pos="100000">
                <a:srgbClr val="CCDF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 flipH="1">
            <a:off x="4571999" y="5934270"/>
            <a:ext cx="437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Tools </a:t>
            </a:r>
            <a:r>
              <a:rPr lang="en-GB" b="1" dirty="0" smtClean="0"/>
              <a:t>Used:</a:t>
            </a:r>
            <a:r>
              <a:rPr lang="en-GB" dirty="0" smtClean="0"/>
              <a:t> Excel </a:t>
            </a:r>
            <a:r>
              <a:rPr lang="en-GB" dirty="0"/>
              <a:t>| SQL | Power BI | </a:t>
            </a:r>
            <a:r>
              <a:rPr lang="en-GB" dirty="0" smtClean="0"/>
              <a:t>Tableau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139959" y="1244178"/>
            <a:ext cx="8808097" cy="4283397"/>
          </a:xfrm>
          <a:prstGeom prst="roundRect">
            <a:avLst/>
          </a:prstGeom>
          <a:gradFill>
            <a:gsLst>
              <a:gs pos="100000">
                <a:srgbClr val="CDE080">
                  <a:alpha val="43000"/>
                </a:srgbClr>
              </a:gs>
              <a:gs pos="0">
                <a:srgbClr val="FFFF00">
                  <a:alpha val="0"/>
                </a:srgb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139958" y="5708063"/>
            <a:ext cx="8808097" cy="730307"/>
          </a:xfrm>
          <a:prstGeom prst="roundRect">
            <a:avLst/>
          </a:prstGeom>
          <a:gradFill>
            <a:gsLst>
              <a:gs pos="100000">
                <a:srgbClr val="CDE080">
                  <a:alpha val="59000"/>
                </a:srgbClr>
              </a:gs>
              <a:gs pos="0">
                <a:srgbClr val="FFFF00">
                  <a:alpha val="0"/>
                </a:srgb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 flipH="1">
            <a:off x="139958" y="5888551"/>
            <a:ext cx="420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Under Guidance </a:t>
            </a:r>
            <a:r>
              <a:rPr lang="en-GB" dirty="0" smtClean="0"/>
              <a:t>of: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314"/>
            <a:ext cx="8229600" cy="569168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4482"/>
            <a:ext cx="8229600" cy="58596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This </a:t>
            </a:r>
            <a:r>
              <a:rPr lang="en-GB" sz="2000" dirty="0" smtClean="0">
                <a:solidFill>
                  <a:schemeClr val="bg1"/>
                </a:solidFill>
              </a:rPr>
              <a:t>project “</a:t>
            </a:r>
            <a:r>
              <a:rPr lang="en-GB" sz="2000" b="1" i="1" dirty="0" smtClean="0"/>
              <a:t>Bank Analytics</a:t>
            </a:r>
            <a:r>
              <a:rPr lang="en-GB" sz="2000" dirty="0" smtClean="0">
                <a:solidFill>
                  <a:schemeClr val="bg1"/>
                </a:solidFill>
              </a:rPr>
              <a:t>” focuses </a:t>
            </a:r>
            <a:r>
              <a:rPr lang="en-GB" sz="2000" dirty="0">
                <a:solidFill>
                  <a:schemeClr val="bg1"/>
                </a:solidFill>
              </a:rPr>
              <a:t>on </a:t>
            </a:r>
            <a:r>
              <a:rPr lang="en-GB" sz="2000" dirty="0" smtClean="0">
                <a:solidFill>
                  <a:schemeClr val="bg1"/>
                </a:solidFill>
              </a:rPr>
              <a:t>analysing </a:t>
            </a:r>
            <a:r>
              <a:rPr lang="en-GB" sz="2000" dirty="0">
                <a:solidFill>
                  <a:schemeClr val="bg1"/>
                </a:solidFill>
              </a:rPr>
              <a:t>customer banking activities using two primary datasets </a:t>
            </a:r>
            <a:r>
              <a:rPr lang="en-GB" sz="20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 smtClean="0">
                <a:solidFill>
                  <a:schemeClr val="bg1"/>
                </a:solidFill>
              </a:rPr>
              <a:t>one </a:t>
            </a:r>
            <a:r>
              <a:rPr lang="en-GB" sz="2000" dirty="0">
                <a:solidFill>
                  <a:schemeClr val="bg1"/>
                </a:solidFill>
              </a:rPr>
              <a:t>containing customer </a:t>
            </a:r>
            <a:r>
              <a:rPr lang="en-GB" sz="2000" dirty="0"/>
              <a:t>debit and credit transaction details</a:t>
            </a:r>
            <a:r>
              <a:rPr lang="en-GB" sz="2000" dirty="0">
                <a:solidFill>
                  <a:schemeClr val="bg1"/>
                </a:solidFill>
              </a:rPr>
              <a:t>, and another </a:t>
            </a:r>
            <a:r>
              <a:rPr lang="en-GB" sz="2000" dirty="0"/>
              <a:t>containing bank loan records.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The main objective of the project is to gain insights into customer financial </a:t>
            </a:r>
            <a:r>
              <a:rPr lang="en-GB" sz="2000" dirty="0" smtClean="0">
                <a:solidFill>
                  <a:schemeClr val="bg1"/>
                </a:solidFill>
              </a:rPr>
              <a:t>behaviour, </a:t>
            </a:r>
            <a:r>
              <a:rPr lang="en-GB" sz="2000" dirty="0">
                <a:solidFill>
                  <a:schemeClr val="bg1"/>
                </a:solidFill>
              </a:rPr>
              <a:t>loan distribution, and overall banking performance. To achieve this, multiple data analytics and visualization tools were used:</a:t>
            </a:r>
          </a:p>
          <a:p>
            <a:pPr>
              <a:lnSpc>
                <a:spcPct val="150000"/>
              </a:lnSpc>
            </a:pPr>
            <a:r>
              <a:rPr lang="en-GB" sz="2000" b="1" dirty="0" smtClean="0"/>
              <a:t>Excel </a:t>
            </a:r>
            <a:r>
              <a:rPr lang="en-GB" sz="2000" b="1" dirty="0"/>
              <a:t>Dashboard </a:t>
            </a:r>
            <a:r>
              <a:rPr lang="en-GB" sz="2000" dirty="0">
                <a:solidFill>
                  <a:schemeClr val="bg1"/>
                </a:solidFill>
              </a:rPr>
              <a:t>for the initial representation of actual data.</a:t>
            </a:r>
          </a:p>
          <a:p>
            <a:pPr>
              <a:lnSpc>
                <a:spcPct val="150000"/>
              </a:lnSpc>
            </a:pPr>
            <a:r>
              <a:rPr lang="en-GB" sz="2000" b="1" dirty="0" smtClean="0"/>
              <a:t>SQL </a:t>
            </a:r>
            <a:r>
              <a:rPr lang="en-GB" sz="2000" b="1" dirty="0"/>
              <a:t>combined with Power BI </a:t>
            </a:r>
            <a:r>
              <a:rPr lang="en-GB" sz="2000" dirty="0">
                <a:solidFill>
                  <a:schemeClr val="bg1"/>
                </a:solidFill>
              </a:rPr>
              <a:t>for structured query outputs and interactive dashboards.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Tableau Dashboard </a:t>
            </a:r>
            <a:r>
              <a:rPr lang="en-GB" sz="2000" dirty="0">
                <a:solidFill>
                  <a:schemeClr val="bg1"/>
                </a:solidFill>
              </a:rPr>
              <a:t>for advanced visualization and deeper insights.</a:t>
            </a:r>
          </a:p>
          <a:p>
            <a:pPr marL="0" indent="0">
              <a:lnSpc>
                <a:spcPct val="150000"/>
              </a:lnSpc>
              <a:buNone/>
            </a:pP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1804"/>
          </a:xfrm>
        </p:spPr>
        <p:txBody>
          <a:bodyPr>
            <a:normAutofit fontScale="90000"/>
          </a:bodyPr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597160"/>
            <a:ext cx="8798767" cy="618619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solidFill>
                  <a:schemeClr val="bg1"/>
                </a:solidFill>
              </a:rPr>
              <a:t>Banks generate huge volumes of transactional and loan data every day. However, this data often remains underutilized due to lack of proper analysis and visualization. The key challenges </a:t>
            </a:r>
            <a:r>
              <a:rPr lang="en-GB" sz="2400" dirty="0" smtClean="0">
                <a:solidFill>
                  <a:schemeClr val="bg1"/>
                </a:solidFill>
              </a:rPr>
              <a:t>are:</a:t>
            </a:r>
          </a:p>
          <a:p>
            <a:pPr>
              <a:lnSpc>
                <a:spcPct val="120000"/>
              </a:lnSpc>
            </a:pPr>
            <a:r>
              <a:rPr lang="en-GB" sz="2400" dirty="0" smtClean="0">
                <a:solidFill>
                  <a:schemeClr val="bg1"/>
                </a:solidFill>
              </a:rPr>
              <a:t>Difficulty in </a:t>
            </a:r>
            <a:r>
              <a:rPr lang="en-GB" sz="2400" b="1" dirty="0" smtClean="0"/>
              <a:t>tracking customer debit and credit patterns</a:t>
            </a:r>
            <a:r>
              <a:rPr lang="en-GB" sz="2400" dirty="0" smtClean="0"/>
              <a:t> </a:t>
            </a:r>
            <a:r>
              <a:rPr lang="en-GB" sz="2400" dirty="0" smtClean="0">
                <a:solidFill>
                  <a:schemeClr val="bg1"/>
                </a:solidFill>
              </a:rPr>
              <a:t>effectively.</a:t>
            </a:r>
          </a:p>
          <a:p>
            <a:pPr>
              <a:lnSpc>
                <a:spcPct val="120000"/>
              </a:lnSpc>
            </a:pPr>
            <a:r>
              <a:rPr lang="en-GB" sz="2400" dirty="0" smtClean="0">
                <a:solidFill>
                  <a:schemeClr val="bg1"/>
                </a:solidFill>
              </a:rPr>
              <a:t>Lack of a unified system to </a:t>
            </a:r>
            <a:r>
              <a:rPr lang="en-GB" sz="2400" b="1" dirty="0" smtClean="0"/>
              <a:t>analyse loan data alongside transaction data</a:t>
            </a:r>
            <a:r>
              <a:rPr lang="en-GB" sz="2400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 smtClean="0">
                <a:solidFill>
                  <a:schemeClr val="bg1"/>
                </a:solidFill>
              </a:rPr>
              <a:t>Limited </a:t>
            </a:r>
            <a:r>
              <a:rPr lang="en-GB" sz="2400" dirty="0">
                <a:solidFill>
                  <a:schemeClr val="bg1"/>
                </a:solidFill>
              </a:rPr>
              <a:t>ability to </a:t>
            </a:r>
            <a:r>
              <a:rPr lang="en-GB" sz="2400" b="1" dirty="0"/>
              <a:t>derive real-time insights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from raw SQL query outputs.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Absence of </a:t>
            </a:r>
            <a:r>
              <a:rPr lang="en-GB" sz="2400" b="1" dirty="0"/>
              <a:t>interactive dashboards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for decision-making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Challenge in </a:t>
            </a:r>
            <a:r>
              <a:rPr lang="en-GB" sz="2400" b="1" dirty="0"/>
              <a:t>identifying key performance indicators (KPIs)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that drive banking growth and risk assessment.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solidFill>
                  <a:schemeClr val="bg1"/>
                </a:solidFill>
              </a:rPr>
              <a:t>This project addresses these challenges by integrating data analytics and visualization tools to transform raw banking data into actionable insights.</a:t>
            </a:r>
          </a:p>
          <a:p>
            <a:pPr marL="0" indent="0">
              <a:lnSpc>
                <a:spcPct val="300000"/>
              </a:lnSpc>
              <a:buNone/>
            </a:pP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054"/>
            <a:ext cx="8229600" cy="713683"/>
          </a:xfrm>
        </p:spPr>
        <p:txBody>
          <a:bodyPr>
            <a:normAutofit fontScale="90000"/>
          </a:bodyPr>
          <a:lstStyle/>
          <a:p>
            <a:r>
              <a:rPr dirty="0"/>
              <a:t>KPIs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281" y="746643"/>
            <a:ext cx="8789437" cy="6025632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Key Performance Indicators </a:t>
            </a:r>
            <a:r>
              <a:rPr dirty="0" smtClean="0"/>
              <a:t>and insights </a:t>
            </a:r>
            <a:endParaRPr lang="en-GB" dirty="0"/>
          </a:p>
          <a:p>
            <a:pPr marL="0" indent="0" algn="ctr">
              <a:buNone/>
            </a:pPr>
            <a:endParaRPr lang="en-GB" dirty="0" smtClean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724739"/>
            <a:ext cx="83248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Loan Applications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Measures the number of loan requests received (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65.5K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Amount Collected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Amount repaid by customers (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$814.9M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Interest Collected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Interest earned from loans (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$155M+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Interest Rate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percentage of interest across loans (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12%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Loans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 of currently running loans (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28,654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Disbursement Trend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–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Loan distribution trend across financial years</a:t>
            </a:r>
            <a:endParaRPr lang="en-GB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Credit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$127.6 Million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Debit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$127.3 Million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Credit to Debit Ratio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1.0025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Net Transaction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$318.1K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637"/>
            <a:ext cx="8229600" cy="51318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Excel</a:t>
            </a:r>
            <a:r>
              <a:rPr dirty="0" smtClean="0"/>
              <a:t> </a:t>
            </a:r>
            <a:r>
              <a:rPr dirty="0"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615820"/>
            <a:ext cx="8556171" cy="6111551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Showcase of final dashboard developed in </a:t>
            </a:r>
            <a:r>
              <a:rPr lang="en-GB" dirty="0" smtClean="0"/>
              <a:t>excel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6" y="1129003"/>
            <a:ext cx="8453534" cy="25565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6" y="3834882"/>
            <a:ext cx="8453534" cy="27622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1804"/>
          </a:xfrm>
        </p:spPr>
        <p:txBody>
          <a:bodyPr>
            <a:normAutofit fontScale="90000"/>
          </a:bodyPr>
          <a:lstStyle/>
          <a:p>
            <a:r>
              <a:rPr lang="en-GB" dirty="0"/>
              <a:t>Power BI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45" y="720174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Screenshot of Power BI dashboard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48"/>
            <a:ext cx="4124131" cy="28377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90" y="1324948"/>
            <a:ext cx="3965510" cy="28377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245430"/>
            <a:ext cx="8229600" cy="2509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50"/>
            <a:ext cx="8229600" cy="1143000"/>
          </a:xfrm>
        </p:spPr>
        <p:txBody>
          <a:bodyPr/>
          <a:lstStyle/>
          <a:p>
            <a:r>
              <a:rPr lang="en-GB" dirty="0"/>
              <a:t>Tableau</a:t>
            </a:r>
            <a:r>
              <a:rPr dirty="0" smtClean="0"/>
              <a:t> </a:t>
            </a:r>
            <a:r>
              <a:rPr dirty="0"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27" y="919065"/>
            <a:ext cx="8640147" cy="576165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Screenshot </a:t>
            </a:r>
            <a:r>
              <a:rPr lang="en-GB" dirty="0"/>
              <a:t>of Tableau dashboard</a:t>
            </a:r>
          </a:p>
          <a:p>
            <a:pPr marL="0" indent="0" algn="ctr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0" y="1686653"/>
            <a:ext cx="8444204" cy="4776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4576"/>
          </a:xfrm>
        </p:spPr>
        <p:txBody>
          <a:bodyPr>
            <a:normAutofit fontScale="90000"/>
          </a:bodyPr>
          <a:lstStyle/>
          <a:p>
            <a:r>
              <a:rPr dirty="0"/>
              <a:t>SQL Queries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50506"/>
            <a:ext cx="9144000" cy="6307494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Display output of SQL queries </a:t>
            </a:r>
            <a:r>
              <a:rPr dirty="0" smtClean="0"/>
              <a:t>here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1110343"/>
            <a:ext cx="2724538" cy="3900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9" y="5153365"/>
            <a:ext cx="2886465" cy="15306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5153365"/>
            <a:ext cx="2724538" cy="15306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615" y="5153366"/>
            <a:ext cx="2998433" cy="1530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9" y="1110344"/>
            <a:ext cx="6002889" cy="3900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645"/>
            <a:ext cx="8229600" cy="569167"/>
          </a:xfrm>
        </p:spPr>
        <p:txBody>
          <a:bodyPr>
            <a:normAutofit fontScale="90000"/>
          </a:bodyPr>
          <a:lstStyle/>
          <a:p>
            <a:r>
              <a:rPr dirty="0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98" y="657808"/>
            <a:ext cx="8901404" cy="612554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dirty="0"/>
              <a:t>Summary of findings and key </a:t>
            </a:r>
            <a:r>
              <a:rPr dirty="0" smtClean="0"/>
              <a:t>learnings</a:t>
            </a:r>
            <a:endParaRPr lang="en-GB" dirty="0" smtClean="0"/>
          </a:p>
          <a:p>
            <a:pPr marL="0" indent="0" algn="ctr">
              <a:buNone/>
            </a:pPr>
            <a:r>
              <a:rPr lang="en-GB" sz="2000" b="1" dirty="0" smtClean="0">
                <a:solidFill>
                  <a:schemeClr val="bg1"/>
                </a:solidFill>
              </a:rPr>
              <a:t>Key Findings: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 smtClean="0"/>
              <a:t>Loan </a:t>
            </a:r>
            <a:r>
              <a:rPr lang="en-GB" sz="2000" b="1" dirty="0"/>
              <a:t>Data Analysis</a:t>
            </a:r>
            <a:endParaRPr lang="en-GB" sz="2000" dirty="0"/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Total loan applications stood at </a:t>
            </a:r>
            <a:r>
              <a:rPr lang="en-GB" sz="2000" b="1" dirty="0"/>
              <a:t>65.5K</a:t>
            </a:r>
            <a:r>
              <a:rPr lang="en-GB" sz="2000" dirty="0"/>
              <a:t>, </a:t>
            </a:r>
            <a:r>
              <a:rPr lang="en-GB" sz="2000" dirty="0">
                <a:solidFill>
                  <a:schemeClr val="bg1"/>
                </a:solidFill>
              </a:rPr>
              <a:t>with a funded amount of </a:t>
            </a:r>
            <a:r>
              <a:rPr lang="en-GB" sz="2000" b="1" dirty="0"/>
              <a:t>$751M</a:t>
            </a:r>
            <a:r>
              <a:rPr lang="en-GB" sz="2000" dirty="0"/>
              <a:t> and </a:t>
            </a:r>
            <a:r>
              <a:rPr lang="en-GB" sz="2000" dirty="0">
                <a:solidFill>
                  <a:schemeClr val="bg1"/>
                </a:solidFill>
              </a:rPr>
              <a:t>collections of </a:t>
            </a:r>
            <a:r>
              <a:rPr lang="en-GB" sz="2000" b="1" dirty="0"/>
              <a:t>$814.9M</a:t>
            </a:r>
            <a:r>
              <a:rPr lang="en-GB" sz="2000" dirty="0"/>
              <a:t>.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The</a:t>
            </a:r>
            <a:r>
              <a:rPr lang="en-GB" sz="2000" dirty="0"/>
              <a:t> </a:t>
            </a:r>
            <a:r>
              <a:rPr lang="en-GB" sz="2000" b="1" dirty="0"/>
              <a:t>average interest rate (12%)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and </a:t>
            </a:r>
            <a:r>
              <a:rPr lang="en-GB" sz="2000" b="1" dirty="0"/>
              <a:t>active loans (28,654)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highlight the bank’s significant lending portfolio.</a:t>
            </a:r>
          </a:p>
          <a:p>
            <a:pPr lvl="1"/>
            <a:r>
              <a:rPr lang="en-GB" sz="2000" b="1" dirty="0"/>
              <a:t>Disbursement trends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show yearly variation in sanctioned loans.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Region-wise, branch-wise, and purpose-wise dashboards reveal performance differences across geographies and loan </a:t>
            </a:r>
            <a:r>
              <a:rPr lang="en-GB" sz="2000" dirty="0" smtClean="0">
                <a:solidFill>
                  <a:schemeClr val="bg1"/>
                </a:solidFill>
              </a:rPr>
              <a:t>categories.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/>
              <a:t>Credit &amp; Debit Data Analysis</a:t>
            </a:r>
            <a:endParaRPr lang="en-GB" sz="2000" dirty="0"/>
          </a:p>
          <a:p>
            <a:pPr lvl="1"/>
            <a:r>
              <a:rPr lang="en-GB" sz="2000" b="1" dirty="0"/>
              <a:t>Total Credit ($127.6M)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and</a:t>
            </a:r>
            <a:r>
              <a:rPr lang="en-GB" sz="2000" dirty="0"/>
              <a:t> </a:t>
            </a:r>
            <a:r>
              <a:rPr lang="en-GB" sz="2000" b="1" dirty="0"/>
              <a:t>Total Debit ($127.3M)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values are almost balanced</a:t>
            </a:r>
            <a:r>
              <a:rPr lang="en-GB" sz="2000" dirty="0"/>
              <a:t>, </a:t>
            </a:r>
            <a:r>
              <a:rPr lang="en-GB" sz="2000" dirty="0">
                <a:solidFill>
                  <a:schemeClr val="bg1"/>
                </a:solidFill>
              </a:rPr>
              <a:t>giving a </a:t>
            </a:r>
            <a:r>
              <a:rPr lang="en-GB" sz="2000" b="1" dirty="0"/>
              <a:t>Credit to Debit Ratio of 1.0025</a:t>
            </a:r>
            <a:r>
              <a:rPr lang="en-GB" sz="2000" dirty="0"/>
              <a:t>.</a:t>
            </a:r>
          </a:p>
          <a:p>
            <a:pPr lvl="1"/>
            <a:r>
              <a:rPr lang="en-GB" sz="2000" b="1" dirty="0"/>
              <a:t>Transaction </a:t>
            </a:r>
            <a:r>
              <a:rPr lang="en-GB" sz="2000" b="1" dirty="0">
                <a:solidFill>
                  <a:schemeClr val="bg1"/>
                </a:solidFill>
              </a:rPr>
              <a:t>methods</a:t>
            </a:r>
            <a:r>
              <a:rPr lang="en-GB" sz="2000" dirty="0">
                <a:solidFill>
                  <a:schemeClr val="bg1"/>
                </a:solidFill>
              </a:rPr>
              <a:t> were evenly distributed: Debit Card (34%), Bank Transfer (33%), Credit Card (33%).</a:t>
            </a:r>
          </a:p>
          <a:p>
            <a:pPr lvl="1"/>
            <a:r>
              <a:rPr lang="en-GB" sz="2000" b="1" dirty="0"/>
              <a:t>High-Risk Transactions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were flagged in both credit and debit cards (~13.6K each), requiring stronger fraud detection</a:t>
            </a:r>
            <a:r>
              <a:rPr lang="en-GB" sz="2000" dirty="0"/>
              <a:t>.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Among banks</a:t>
            </a:r>
            <a:r>
              <a:rPr lang="en-GB" sz="2000" dirty="0"/>
              <a:t>, </a:t>
            </a:r>
            <a:r>
              <a:rPr lang="en-GB" sz="2000" b="1" dirty="0" smtClean="0"/>
              <a:t>Kotak </a:t>
            </a:r>
            <a:r>
              <a:rPr lang="en-GB" sz="2000" b="1" dirty="0"/>
              <a:t>Mahindra </a:t>
            </a:r>
            <a:r>
              <a:rPr lang="en-GB" sz="2000" b="1" dirty="0" smtClean="0"/>
              <a:t>Bank  ($28.5M</a:t>
            </a:r>
            <a:r>
              <a:rPr lang="en-GB" sz="2000" b="1" dirty="0"/>
              <a:t>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showed the highest transaction volume, followed by </a:t>
            </a:r>
            <a:r>
              <a:rPr lang="en-GB" sz="2000" b="1" dirty="0"/>
              <a:t>Punjab National </a:t>
            </a:r>
            <a:r>
              <a:rPr lang="en-GB" sz="2000" b="1" dirty="0" smtClean="0"/>
              <a:t>Bank, </a:t>
            </a:r>
            <a:r>
              <a:rPr lang="en-GB" sz="2000" b="1" dirty="0"/>
              <a:t>SBI, ICICI, HDFC, and Axis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with similar volumes.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299"/>
            <a:ext cx="7772400" cy="69979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Key </a:t>
            </a:r>
            <a:r>
              <a:rPr lang="en-GB" b="1" dirty="0" smtClean="0"/>
              <a:t>Learnings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927" y="821094"/>
            <a:ext cx="8406881" cy="58409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KPI Tracking Improves Decisions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Monitoring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metrics like active loans, interest collected, and disbursement trends helps banks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align with business goals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Visualization Enhances Understanding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Dashboards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(Power BI, Tableau, Axial) make complex data easier to interpret.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Branch &amp; Bank-Level Insights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Comparing performance across branches and banks supports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strategic planning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SQL + BI Integration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Structured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queries combined with visualization tools increase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accuracy and accessibility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Customer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Profiling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Age, grade, and purpose-based loan segmentation helps in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targeted product offerings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Real-time Monitoring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Dashboards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provide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timely alerts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on risks and performance trends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Scalable Analytics Framework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The project shows how analytics can be scaled to larger banking datasets in the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future</a:t>
            </a:r>
            <a:endParaRPr lang="en-US" altLang="en-US" sz="14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A nearly Balanced</a:t>
            </a:r>
            <a:r>
              <a:rPr lang="en-US" alt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Credit-debit ratio</a:t>
            </a:r>
            <a:r>
              <a:rPr lang="en-US" alt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indicates strong customer financial discipline.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High-risk </a:t>
            </a:r>
            <a:r>
              <a:rPr lang="en-US" altLang="en-US" sz="14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transaction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monitoring is crucial , especially for credit and debit card usage</a:t>
            </a:r>
            <a:r>
              <a:rPr lang="en-US" alt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</a:rPr>
              <a:t>Loan disbursement and repayment trends </a:t>
            </a:r>
            <a:r>
              <a:rPr lang="en-GB" sz="1400" dirty="0">
                <a:solidFill>
                  <a:schemeClr val="bg1"/>
                </a:solidFill>
              </a:rPr>
              <a:t>reveal valuable insights for </a:t>
            </a:r>
            <a:r>
              <a:rPr lang="en-GB" sz="1400" b="1" dirty="0">
                <a:solidFill>
                  <a:schemeClr val="tx1"/>
                </a:solidFill>
              </a:rPr>
              <a:t>strategic decision-making</a:t>
            </a:r>
            <a:r>
              <a:rPr lang="en-GB" sz="1400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Combining </a:t>
            </a:r>
            <a:r>
              <a:rPr lang="en-GB" sz="1400" b="1" dirty="0">
                <a:solidFill>
                  <a:schemeClr val="tx1"/>
                </a:solidFill>
              </a:rPr>
              <a:t>SQL queries with BI tools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>
                <a:solidFill>
                  <a:schemeClr val="bg1"/>
                </a:solidFill>
              </a:rPr>
              <a:t>enhances both </a:t>
            </a:r>
            <a:r>
              <a:rPr lang="en-GB" sz="1400" b="1" dirty="0">
                <a:solidFill>
                  <a:schemeClr val="tx1"/>
                </a:solidFill>
              </a:rPr>
              <a:t>data accuracy and visualization power</a:t>
            </a:r>
            <a:r>
              <a:rPr lang="en-GB" sz="1400" dirty="0">
                <a:solidFill>
                  <a:schemeClr val="tx1"/>
                </a:solidFill>
              </a:rPr>
              <a:t>.</a:t>
            </a:r>
            <a:endParaRPr lang="en-US" altLang="en-US" sz="14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1884" y="2374321"/>
            <a:ext cx="81563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51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1" y="464393"/>
            <a:ext cx="7772400" cy="526208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Solutions &amp; Improvements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4301" y="1178053"/>
            <a:ext cx="88011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Segmentation &amp;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Targeting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age, income, and purpose-based loan data to offer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personalized loan products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cross-selling opportunities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(credit cards, insurance, savings plans).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 &amp; Bank Performance Optimization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KPIs to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underperforming branches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improve training, resources, and policies.</a:t>
            </a:r>
            <a:r>
              <a:rPr kumimoji="0" lang="en-US" alt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Reward high-performing branches to maintain competitive spirit.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Portfolio Management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Closely monitor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disbursement vs. repayment trends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minimize defaults.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Adjust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interest rates and loan terms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customer profiles and risk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Banking Enhancements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Encourage more customers to use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online banking, UPI, and mobile apps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transparent transactions. Strengthen cybersecurity to build trust in digital payments.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interactive dashboards (Power BI/Tableau) for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executive decisions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GB" sz="1400" dirty="0" smtClean="0">
                <a:solidFill>
                  <a:schemeClr val="bg1"/>
                </a:solidFill>
              </a:rPr>
              <a:t>Integrate </a:t>
            </a:r>
            <a:r>
              <a:rPr lang="en-GB" sz="1400" b="1" dirty="0">
                <a:solidFill>
                  <a:schemeClr val="bg1"/>
                </a:solidFill>
              </a:rPr>
              <a:t>SQL </a:t>
            </a:r>
            <a:r>
              <a:rPr lang="en-GB" sz="1400" dirty="0" smtClean="0">
                <a:solidFill>
                  <a:schemeClr val="bg1"/>
                </a:solidFill>
              </a:rPr>
              <a:t>for </a:t>
            </a:r>
            <a:r>
              <a:rPr lang="en-GB" sz="1400" dirty="0">
                <a:solidFill>
                  <a:schemeClr val="bg1"/>
                </a:solidFill>
              </a:rPr>
              <a:t>faster and error-free data analysis.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43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563" y="2710543"/>
            <a:ext cx="8229600" cy="643812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886</Words>
  <Application>Microsoft Office PowerPoint</Application>
  <PresentationFormat>On-screen Show (4:3)</PresentationFormat>
  <Paragraphs>86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Project Title:  Bank Analytics Project</vt:lpstr>
      <vt:lpstr>Introduction</vt:lpstr>
      <vt:lpstr>Problem Statement</vt:lpstr>
      <vt:lpstr>KPIs &amp; Insights</vt:lpstr>
      <vt:lpstr>Excel Dashboard</vt:lpstr>
      <vt:lpstr>Power BI Dashboard</vt:lpstr>
      <vt:lpstr>Tableau Dashboard</vt:lpstr>
      <vt:lpstr>SQL Queries Output</vt:lpstr>
      <vt:lpstr>Project Summary</vt:lpstr>
      <vt:lpstr>Key Learnings</vt:lpstr>
      <vt:lpstr>Solutions &amp;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Analytics</dc:title>
  <dc:subject/>
  <dc:creator>Ratnesh Ranjan Jha</dc:creator>
  <cp:keywords/>
  <dc:description>generated using python-pptx</dc:description>
  <cp:lastModifiedBy>user</cp:lastModifiedBy>
  <cp:revision>23</cp:revision>
  <dcterms:created xsi:type="dcterms:W3CDTF">2013-01-27T09:14:16Z</dcterms:created>
  <dcterms:modified xsi:type="dcterms:W3CDTF">2025-09-22T18:02:03Z</dcterms:modified>
  <cp:category/>
</cp:coreProperties>
</file>