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7" r:id="rId1"/>
  </p:sldMasterIdLst>
  <p:sldIdLst>
    <p:sldId id="256" r:id="rId2"/>
    <p:sldId id="266" r:id="rId3"/>
    <p:sldId id="257" r:id="rId4"/>
    <p:sldId id="258" r:id="rId5"/>
    <p:sldId id="267" r:id="rId6"/>
    <p:sldId id="271" r:id="rId7"/>
    <p:sldId id="269" r:id="rId8"/>
    <p:sldId id="268" r:id="rId9"/>
    <p:sldId id="272" r:id="rId10"/>
    <p:sldId id="270" r:id="rId11"/>
    <p:sldId id="273" r:id="rId12"/>
    <p:sldId id="274" r:id="rId13"/>
    <p:sldId id="259" r:id="rId14"/>
    <p:sldId id="262" r:id="rId15"/>
    <p:sldId id="260" r:id="rId16"/>
    <p:sldId id="261" r:id="rId17"/>
    <p:sldId id="263" r:id="rId18"/>
    <p:sldId id="275" r:id="rId19"/>
    <p:sldId id="276" r:id="rId20"/>
    <p:sldId id="277" r:id="rId21"/>
    <p:sldId id="278" r:id="rId22"/>
    <p:sldId id="264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91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35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3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7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5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8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8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2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human-resources-hr-management-1181577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41013&amp;picture=agenda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people-men-women-man-woman-220284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segalan.es/diccionario-analitica-web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domainpictures.net/view-image.php?image=85761&amp;picture=&amp;jazyk=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Data Analysis using Excel, SQL, Power BI, and Tableau</a:t>
            </a:r>
          </a:p>
        </p:txBody>
      </p:sp>
      <p:pic>
        <p:nvPicPr>
          <p:cNvPr id="7" name="Picture 6" descr="A group of people standing in front of a sign&#10;&#10;AI-generated content may be incorrect.">
            <a:extLst>
              <a:ext uri="{FF2B5EF4-FFF2-40B4-BE49-F238E27FC236}">
                <a16:creationId xmlns:a16="http://schemas.microsoft.com/office/drawing/2014/main" id="{4EECDB47-3E3A-DE8A-7EEC-201C9420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93760" y="1934527"/>
            <a:ext cx="2997200" cy="2866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3647-08D2-84F5-B223-370FA59F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2691-3B7D-6344-BADE-D3AD2CBE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KPIs and Insights</a:t>
            </a:r>
          </a:p>
          <a:p>
            <a:r>
              <a:rPr lang="en-IN" dirty="0"/>
              <a:t>Excel Dashboard</a:t>
            </a:r>
          </a:p>
          <a:p>
            <a:r>
              <a:rPr lang="en-IN" dirty="0"/>
              <a:t>Tableau Dashboard</a:t>
            </a:r>
          </a:p>
          <a:p>
            <a:r>
              <a:rPr lang="en-IN" dirty="0"/>
              <a:t>Power BI Dashboard</a:t>
            </a:r>
          </a:p>
          <a:p>
            <a:r>
              <a:rPr lang="en-IN" dirty="0"/>
              <a:t>MySQL Queries</a:t>
            </a:r>
          </a:p>
          <a:p>
            <a:r>
              <a:rPr lang="en-IN" dirty="0"/>
              <a:t>Challenges</a:t>
            </a:r>
          </a:p>
          <a:p>
            <a:r>
              <a:rPr lang="en-IN" dirty="0"/>
              <a:t>Conclusion</a:t>
            </a:r>
          </a:p>
        </p:txBody>
      </p:sp>
      <p:pic>
        <p:nvPicPr>
          <p:cNvPr id="6" name="Picture 5" descr="A hand holding a pen over a clipboard&#10;&#10;AI-generated content may be incorrect.">
            <a:extLst>
              <a:ext uri="{FF2B5EF4-FFF2-40B4-BE49-F238E27FC236}">
                <a16:creationId xmlns:a16="http://schemas.microsoft.com/office/drawing/2014/main" id="{92D2F794-B836-6923-D9BF-0D140BCAF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0000" b="10121"/>
          <a:stretch/>
        </p:blipFill>
        <p:spPr>
          <a:xfrm>
            <a:off x="6441440" y="1028541"/>
            <a:ext cx="2966720" cy="312475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458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HR Analytics project aims to analyze employee attrition and performance trends using Excel, SQL, Power BI, and Tableau to identify key factors impacting employee retention, satisfaction, and productivity.</a:t>
            </a:r>
          </a:p>
        </p:txBody>
      </p:sp>
      <p:pic>
        <p:nvPicPr>
          <p:cNvPr id="6" name="Picture 5" descr="A group of people in suits&#10;&#10;AI-generated content may be incorrect.">
            <a:extLst>
              <a:ext uri="{FF2B5EF4-FFF2-40B4-BE49-F238E27FC236}">
                <a16:creationId xmlns:a16="http://schemas.microsoft.com/office/drawing/2014/main" id="{0B6C2061-2084-B8F9-1B49-833A179B73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24839"/>
          <a:stretch/>
        </p:blipFill>
        <p:spPr>
          <a:xfrm>
            <a:off x="2511552" y="2917507"/>
            <a:ext cx="6096000" cy="3930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dirty="0"/>
              <a:t>Average Attrition Rate for all Departments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Average Hourly Rate of Male Research Scientists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Attrition Rate vs Monthly Income Stats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Average Working Years for each Department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Job Role vs Work-Life Balance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Attrition Rate vs Years Since Last Promotion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Attrition Rate vs Age Group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Top 3 Highest Earnings Employees per Department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1F71D414-1DA0-CAE0-FBD3-8B63C8F82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66000" y="2316480"/>
            <a:ext cx="3799840" cy="1899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Average Attrition Rate for all Departments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5024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Attrition: Research &amp; Development has the highest average attrition rate at 51.21%.</a:t>
            </a:r>
          </a:p>
          <a:p>
            <a:r>
              <a:rPr lang="en-US" sz="1400" dirty="0"/>
              <a:t>Next Highest: Software follows closely with an average rate of 50.54%.</a:t>
            </a:r>
          </a:p>
          <a:p>
            <a:r>
              <a:rPr lang="en-US" sz="1400" dirty="0"/>
              <a:t>Lowest Attrition: Hardware has the lowest rate at 49.44%, making it the most stable department.</a:t>
            </a:r>
          </a:p>
          <a:p>
            <a:r>
              <a:rPr lang="en-US" sz="1400" dirty="0"/>
              <a:t>Overall Trend: All departments have an attrition rate clustering around the 50% mark, showing high and consistent turnover across the board.</a:t>
            </a:r>
            <a:endParaRPr lang="en-IN" sz="1400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1" t="26720" r="50751" b="39354"/>
          <a:stretch/>
        </p:blipFill>
        <p:spPr>
          <a:xfrm>
            <a:off x="7020560" y="1981200"/>
            <a:ext cx="4968240" cy="22800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7567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2. Average Hourly Rate of Male Research Scientists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5024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The average hourly rate for male employees working as Research Scientists is ₹114</a:t>
            </a:r>
          </a:p>
          <a:p>
            <a:r>
              <a:rPr lang="en-US" sz="1400" dirty="0"/>
              <a:t>This indicates that Research Scientist roles are moderately compensated, reflecting a mid-level pay grade in the organization</a:t>
            </a:r>
          </a:p>
          <a:p>
            <a:r>
              <a:rPr lang="en-US" sz="1400" dirty="0"/>
              <a:t>A deeper comparison across genders and roles could reveal whether pay equity exists within the company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06" t="13938" r="61262" b="75459"/>
          <a:stretch/>
        </p:blipFill>
        <p:spPr>
          <a:xfrm>
            <a:off x="7162800" y="2596198"/>
            <a:ext cx="3791712" cy="13255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8384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Attrition Rate vs Monthly Income Stats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78104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Risk: The highest rate of attrition (51.97%) is in the 50,000+ income group.</a:t>
            </a:r>
          </a:p>
          <a:p>
            <a:r>
              <a:rPr lang="en-US" sz="1400" dirty="0"/>
              <a:t>Most Leavers: The biggest number of employees leaving are from the mid-level 15k - 25k income range.</a:t>
            </a:r>
          </a:p>
          <a:p>
            <a:r>
              <a:rPr lang="en-US" sz="1400" dirty="0"/>
              <a:t>Low-Income Impact: The 0 - 5k bracket has both a high rate (49.72%) and a high number of leavers (2.02K).</a:t>
            </a:r>
          </a:p>
          <a:p>
            <a:r>
              <a:rPr lang="en-US" sz="1400" dirty="0"/>
              <a:t>Best Retention: The 35k - 40k income group has the lowest attrition rate (48.27%).</a:t>
            </a:r>
            <a:endParaRPr lang="en-IN" sz="1400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" t="62246" r="51177" b="1924"/>
          <a:stretch/>
        </p:blipFill>
        <p:spPr>
          <a:xfrm>
            <a:off x="6360160" y="1991360"/>
            <a:ext cx="5720080" cy="2407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761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4. Average Working Years for each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63500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Longest Tenure: Hardware has the longest average tenure at 20.67 years.</a:t>
            </a:r>
          </a:p>
          <a:p>
            <a:r>
              <a:rPr lang="en-US" sz="1400" dirty="0"/>
              <a:t>Shortest Tenure: Sales has the shortest average tenure at 20.32 years.</a:t>
            </a:r>
          </a:p>
          <a:p>
            <a:r>
              <a:rPr lang="en-US" sz="1400" dirty="0"/>
              <a:t>Key Insight: All departments are extremely similar. There is very little difference in average tenure (all are between 20.3 and 20.7 years).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1" t="27665" r="50960" b="39512"/>
          <a:stretch/>
        </p:blipFill>
        <p:spPr>
          <a:xfrm>
            <a:off x="6929120" y="2287350"/>
            <a:ext cx="5187789" cy="2283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263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5. Job Role vs Work-Life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58800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Best Balance (2.52): Healthcare Representative and Sales Executive/Representative roles report the highest Work-Life Balance score.</a:t>
            </a:r>
          </a:p>
          <a:p>
            <a:r>
              <a:rPr lang="en-US" sz="1400" dirty="0"/>
              <a:t>Worst Balance (2.46): Developer role reports the lowest Work-Life Balance score, indicating the greatest WLB challenge.</a:t>
            </a:r>
          </a:p>
          <a:p>
            <a:r>
              <a:rPr lang="en-US" sz="1400" dirty="0"/>
              <a:t>WLB Risk: The Developer role is a high-risk area for burnout or dissatisfaction due to poor WLB.</a:t>
            </a:r>
          </a:p>
          <a:p>
            <a:r>
              <a:rPr lang="en-US" sz="1400" dirty="0"/>
              <a:t>Below Average: Developer (2.46) and Research Scientist (2.49) are also slightly below the average and need attention.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" t="62426" r="50605" b="3126"/>
          <a:stretch/>
        </p:blipFill>
        <p:spPr>
          <a:xfrm>
            <a:off x="6304247" y="2287350"/>
            <a:ext cx="5660262" cy="22643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9973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6. Attrition Rate vs Years Since Last Promotion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78104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Risk Period: The highest attrition rate is seen when employees have waited 21-30 years since their last promotion (51.08%).</a:t>
            </a:r>
          </a:p>
          <a:p>
            <a:r>
              <a:rPr lang="en-US" sz="1400" dirty="0"/>
              <a:t>Initial Danger Zone: The next highest rates are in the 6-10 years (50.31%) and 11-20 years (50.17%) waiting periods.</a:t>
            </a:r>
          </a:p>
          <a:p>
            <a:r>
              <a:rPr lang="en-US" sz="1400" dirty="0"/>
              <a:t>Lowest Risk: The attrition rate drops sharply for employees waiting 31-40 years (48.4%), though this group has a very small population (0.22K total).</a:t>
            </a:r>
          </a:p>
          <a:p>
            <a:r>
              <a:rPr lang="en-US" sz="1400" dirty="0"/>
              <a:t>Bulk Attrition: The largest number of people leaving is in the 0-5 years category (15.87K), despite this group having the lowest reported rate (47.96%). This is because it is the largest employee group (31.64K).</a:t>
            </a:r>
            <a:endParaRPr lang="en-IN" sz="1400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18" t="62246" r="1022" b="1924"/>
          <a:stretch/>
        </p:blipFill>
        <p:spPr>
          <a:xfrm>
            <a:off x="6289040" y="2296160"/>
            <a:ext cx="5781040" cy="2407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7182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7. Attrition Rate vs Age Group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791017"/>
            <a:ext cx="5781040" cy="4351337"/>
          </a:xfrm>
        </p:spPr>
        <p:txBody>
          <a:bodyPr>
            <a:normAutofit/>
          </a:bodyPr>
          <a:lstStyle/>
          <a:p>
            <a:r>
              <a:rPr lang="en-US" sz="1400" dirty="0"/>
              <a:t>Highest Risk: The highest attrition rate (51.65%) is in the 56 and above age group.</a:t>
            </a:r>
          </a:p>
          <a:p>
            <a:r>
              <a:rPr lang="en-US" sz="1400" dirty="0"/>
              <a:t>Most Stable Group: The 36-45 age group has the lowest attrition rate (49.34%).</a:t>
            </a:r>
          </a:p>
          <a:p>
            <a:r>
              <a:rPr lang="en-US" sz="1400" dirty="0"/>
              <a:t>Bulk Attrition: The largest number of employees leaving (6.40K) comes from the 25-35 age group, simply because it's the largest segment of the workforce.</a:t>
            </a:r>
            <a:endParaRPr lang="en-IN" sz="1400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18" t="27172" r="1022" b="39266"/>
          <a:stretch/>
        </p:blipFill>
        <p:spPr>
          <a:xfrm>
            <a:off x="6289040" y="2296160"/>
            <a:ext cx="5781040" cy="2255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217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D660-B7A4-E436-101A-91379C55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10178288" cy="1325562"/>
          </a:xfrm>
        </p:spPr>
        <p:txBody>
          <a:bodyPr>
            <a:normAutofit/>
          </a:bodyPr>
          <a:lstStyle/>
          <a:p>
            <a:r>
              <a:rPr lang="en-US" sz="3200" dirty="0"/>
              <a:t>8. Top 3 Highest Earnings Employees per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EB36-EC03-F65B-82AF-51974E89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19" y="1791017"/>
            <a:ext cx="5928327" cy="4351337"/>
          </a:xfrm>
        </p:spPr>
        <p:txBody>
          <a:bodyPr>
            <a:normAutofit/>
          </a:bodyPr>
          <a:lstStyle/>
          <a:p>
            <a:r>
              <a:rPr lang="en-US" sz="1400" dirty="0"/>
              <a:t>Equal Pay at the Top: The highest reported salaries across all departments are nearly identical, clustering around 50,990 - 51,000. </a:t>
            </a:r>
          </a:p>
          <a:p>
            <a:r>
              <a:rPr lang="en-US" sz="1400" dirty="0"/>
              <a:t>Income Rank Consistency: For the top 3 spots within each department, the salaries are very closely grouped (e.g., Rank 1, 2, and 3 in Hardware are 50,996, 50,994, and 50,990).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16F6-AC61-59F2-C009-07137484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72" t="27184" r="2084" b="3281"/>
          <a:stretch/>
        </p:blipFill>
        <p:spPr>
          <a:xfrm>
            <a:off x="6507447" y="1791017"/>
            <a:ext cx="5471193" cy="4570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9371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Dashboard</a:t>
            </a:r>
          </a:p>
        </p:txBody>
      </p:sp>
      <p:pic>
        <p:nvPicPr>
          <p:cNvPr id="6" name="Content Placeholder 5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32484E37-A24C-FACE-0228-F4A8D0F1C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274" y="1597978"/>
            <a:ext cx="9230302" cy="4812982"/>
          </a:xfrm>
          <a:prstGeom prst="roundRect">
            <a:avLst>
              <a:gd name="adj" fmla="val 13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Dashboard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087A6C-D6B8-217F-548B-BB055D3C4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717" y="1679258"/>
            <a:ext cx="8267416" cy="4650422"/>
          </a:xfrm>
          <a:prstGeom prst="roundRect">
            <a:avLst>
              <a:gd name="adj" fmla="val 537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 - Attrition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5AACB22D-9941-88CE-C38A-550CBE3E7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040" y="1638618"/>
            <a:ext cx="8398770" cy="473170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- Performance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FFB525-4531-50E3-20F6-4D72EF877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732" y="1666237"/>
            <a:ext cx="8327388" cy="46764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AB9903F-4272-A8B6-6DD2-6DDBF9097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3394" y="1691322"/>
            <a:ext cx="7776224" cy="45237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B9903F-4272-A8B6-6DD2-6DDBF9097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29" r="3329"/>
          <a:stretch/>
        </p:blipFill>
        <p:spPr>
          <a:xfrm>
            <a:off x="1803394" y="1691322"/>
            <a:ext cx="7776224" cy="45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0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B9903F-4272-A8B6-6DD2-6DDBF9097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365" b="1200"/>
          <a:stretch/>
        </p:blipFill>
        <p:spPr>
          <a:xfrm>
            <a:off x="2767332" y="1691322"/>
            <a:ext cx="5584188" cy="471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62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B9903F-4272-A8B6-6DD2-6DDBF9097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154" r="7154"/>
          <a:stretch/>
        </p:blipFill>
        <p:spPr>
          <a:xfrm>
            <a:off x="1803394" y="1691322"/>
            <a:ext cx="7776224" cy="45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05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Queries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B9903F-4272-A8B6-6DD2-6DDBF9097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30" b="133"/>
          <a:stretch/>
        </p:blipFill>
        <p:spPr>
          <a:xfrm>
            <a:off x="1803394" y="1747520"/>
            <a:ext cx="7776224" cy="47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12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Strategic Action Plan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196EFC-4DAC-5B26-A46B-02F61AB5B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b="1" dirty="0"/>
              <a:t>Key Findings &amp; 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BFF753-DCA2-0CA9-92E4-A8FF3AB8D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2160" y="2507550"/>
            <a:ext cx="4970272" cy="398469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Attrition Risk is Structural : Overall attrition rate is high (50%), indicating a systemic issue, not just isolated department problems. </a:t>
            </a:r>
          </a:p>
          <a:p>
            <a:pPr algn="just"/>
            <a:r>
              <a:rPr lang="en-US" dirty="0"/>
              <a:t>Promotion Lag Drives Loss : Waiting  6-30 years for a promotion is strongly correlated with high attrition rates.</a:t>
            </a:r>
          </a:p>
          <a:p>
            <a:pPr algn="just"/>
            <a:r>
              <a:rPr lang="en-US" dirty="0"/>
              <a:t>High-Value Flight : The  50,000+  income bracket has the highest attrition rate (51.97%),indicating poor retention of senior/highly-paid staff. </a:t>
            </a:r>
          </a:p>
          <a:p>
            <a:pPr algn="just"/>
            <a:r>
              <a:rPr lang="en-US" dirty="0"/>
              <a:t>Manager Burnout : The  Manager  role reports the lowest Work-Life Balance (2.47), making it a high-risk role for dissatisfaction.:  </a:t>
            </a:r>
          </a:p>
          <a:p>
            <a:pPr algn="just"/>
            <a:r>
              <a:rPr lang="en-US" dirty="0"/>
              <a:t>R&amp;D Stability Risk :  Research &amp; Development has the highest overall department attrition rate(51.21%) and one of the lowest average tenures (20.34years).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B9C164-B26C-8B6E-7472-147C6F779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/>
          <a:lstStyle/>
          <a:p>
            <a:pPr algn="ctr"/>
            <a:r>
              <a:rPr lang="en-IN" b="1" dirty="0"/>
              <a:t>Actionable Recommendations &amp;Feedback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F98591E-8782-63A2-1CC6-31464AF09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5080000" cy="398469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Re-evaluate Promotion Cadence : Implement mandatory review points for promotion every 5 years to break the high-risk 6-30 year waiting window. </a:t>
            </a:r>
          </a:p>
          <a:p>
            <a:pPr algn="just"/>
            <a:r>
              <a:rPr lang="en-US" dirty="0"/>
              <a:t>Targeted Retention for 50k+ : Conduct stay interviews with high-income employees to understand non-monetary retention factors (e.g., impact, autonomy). </a:t>
            </a:r>
          </a:p>
          <a:p>
            <a:pPr algn="just"/>
            <a:r>
              <a:rPr lang="en-US" dirty="0"/>
              <a:t>Fix Manager WLB : Deploy support staff or adjust span of control for Managers to immediately improve their Work-Life Balance score (2.47). </a:t>
            </a:r>
          </a:p>
          <a:p>
            <a:pPr algn="just"/>
            <a:r>
              <a:rPr lang="en-US" dirty="0"/>
              <a:t>Prioritize R&amp;D &amp; Sales : Focus retention efforts on R&amp;D  (highest rate) and  Sales  (shortest tenure)to stabilize core creative and revenue functions.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9FE9-5402-2F92-4F9D-C3990A4E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69D1-E959-A9DD-232A-7D58B558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152128" cy="4351337"/>
          </a:xfrm>
        </p:spPr>
        <p:txBody>
          <a:bodyPr>
            <a:normAutofit/>
          </a:bodyPr>
          <a:lstStyle/>
          <a:p>
            <a:r>
              <a:rPr lang="en-US" b="1" dirty="0"/>
              <a:t>Challenge 1: </a:t>
            </a:r>
            <a:r>
              <a:rPr lang="en-US" dirty="0"/>
              <a:t>Combining HR1 and HR2 datasets with no common column </a:t>
            </a:r>
          </a:p>
          <a:p>
            <a:r>
              <a:rPr lang="en-US" b="1" dirty="0"/>
              <a:t>Solution:</a:t>
            </a:r>
            <a:r>
              <a:rPr lang="en-US" dirty="0"/>
              <a:t> Added a index column on both files (from 1) and with the merge queries used the index columns from both HR1 and HR2 as common column.</a:t>
            </a:r>
          </a:p>
          <a:p>
            <a:r>
              <a:rPr lang="en-US" b="1" dirty="0"/>
              <a:t>Challenge 2:</a:t>
            </a:r>
            <a:r>
              <a:rPr lang="en-US" dirty="0"/>
              <a:t> Loading CSV files into MySQL (LOCAL INFILE error)</a:t>
            </a:r>
          </a:p>
          <a:p>
            <a:r>
              <a:rPr lang="en-US" b="1" dirty="0"/>
              <a:t>Solution: </a:t>
            </a:r>
            <a:r>
              <a:rPr lang="en-US" dirty="0"/>
              <a:t>Enabled </a:t>
            </a:r>
            <a:r>
              <a:rPr lang="en-US" i="1" dirty="0" err="1"/>
              <a:t>local_infile</a:t>
            </a:r>
            <a:r>
              <a:rPr lang="en-US" dirty="0"/>
              <a:t> in MySQL configuration and reloaded using proper permissions</a:t>
            </a:r>
          </a:p>
          <a:p>
            <a:r>
              <a:rPr lang="en-US" b="1" dirty="0"/>
              <a:t>Challenge 3:</a:t>
            </a:r>
            <a:r>
              <a:rPr lang="en-US" dirty="0"/>
              <a:t> struggling to Load MySQL tables into Power BI for visualization </a:t>
            </a:r>
          </a:p>
          <a:p>
            <a:r>
              <a:rPr lang="en-US" b="1" dirty="0"/>
              <a:t>Solution:</a:t>
            </a:r>
            <a:r>
              <a:rPr lang="en-US" dirty="0"/>
              <a:t> With the Help of </a:t>
            </a:r>
            <a:r>
              <a:rPr lang="en-US" dirty="0" err="1"/>
              <a:t>ChatGPTs</a:t>
            </a:r>
            <a:r>
              <a:rPr lang="en-US" dirty="0"/>
              <a:t> instruction, we Connected Power BI to MySQL via the MySQL Connector, imported cleaned HR tables, and built interactive dashboards directly from the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650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F6D0-1C7F-8C3C-E88A-5C76D35E2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pic>
        <p:nvPicPr>
          <p:cNvPr id="5" name="Picture 4" descr="A hand touching a screen&#10;&#10;AI-generated content may be incorrect.">
            <a:extLst>
              <a:ext uri="{FF2B5EF4-FFF2-40B4-BE49-F238E27FC236}">
                <a16:creationId xmlns:a16="http://schemas.microsoft.com/office/drawing/2014/main" id="{3880BD71-9366-8A39-1482-00118139D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667" b="78000" l="22156" r="66467">
                        <a14:foregroundMark x1="58683" y1="72667" x2="58683" y2="72667"/>
                        <a14:foregroundMark x1="59281" y1="27333" x2="59281" y2="27333"/>
                        <a14:foregroundMark x1="63473" y1="24000" x2="63473" y2="24000"/>
                        <a14:foregroundMark x1="59281" y1="21333" x2="59281" y2="21333"/>
                        <a14:foregroundMark x1="65868" y1="28000" x2="65868" y2="28000"/>
                        <a14:foregroundMark x1="53892" y1="75333" x2="53892" y2="75333"/>
                        <a14:foregroundMark x1="22754" y1="54000" x2="22754" y2="54000"/>
                        <a14:foregroundMark x1="28743" y1="69333" x2="28743" y2="69333"/>
                        <a14:foregroundMark x1="24551" y1="66000" x2="24551" y2="66000"/>
                        <a14:foregroundMark x1="25150" y1="72667" x2="25150" y2="72667"/>
                        <a14:foregroundMark x1="34731" y1="78000" x2="34731" y2="78000"/>
                        <a14:foregroundMark x1="66467" y1="62000" x2="66467" y2="62000"/>
                      </a14:backgroundRemoval>
                    </a14:imgEffect>
                    <a14:imgEffect>
                      <a14:artisticChalkSketch/>
                    </a14:imgEffect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535" t="18578" r="30838" b="21329"/>
          <a:stretch/>
        </p:blipFill>
        <p:spPr>
          <a:xfrm>
            <a:off x="8229599" y="1697736"/>
            <a:ext cx="1869441" cy="2164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974393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263</TotalTime>
  <Words>1144</Words>
  <Application>Microsoft Office PowerPoint</Application>
  <PresentationFormat>Widescreen</PresentationFormat>
  <Paragraphs>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Schoolbook</vt:lpstr>
      <vt:lpstr>Wingdings 2</vt:lpstr>
      <vt:lpstr>View</vt:lpstr>
      <vt:lpstr>HR Analytics Dashboard</vt:lpstr>
      <vt:lpstr>INDEX</vt:lpstr>
      <vt:lpstr>Introduction</vt:lpstr>
      <vt:lpstr>KPIs and Insights</vt:lpstr>
      <vt:lpstr>1. Average Attrition Rate for all Departments</vt:lpstr>
      <vt:lpstr>2. Average Hourly Rate of Male Research Scientists</vt:lpstr>
      <vt:lpstr>3. Attrition Rate vs Monthly Income Stats</vt:lpstr>
      <vt:lpstr>4. Average Working Years for each Department</vt:lpstr>
      <vt:lpstr>5. Job Role vs Work-Life Balance</vt:lpstr>
      <vt:lpstr>6. Attrition Rate vs Years Since Last Promotion</vt:lpstr>
      <vt:lpstr>7. Attrition Rate vs Age Group</vt:lpstr>
      <vt:lpstr>8. Top 3 Highest Earnings Employees per Department</vt:lpstr>
      <vt:lpstr>Excel Dashboard</vt:lpstr>
      <vt:lpstr>Tableau Dashboard</vt:lpstr>
      <vt:lpstr>Power BI Dashboard - Attrition</vt:lpstr>
      <vt:lpstr>Power BI Dashboard - Performance</vt:lpstr>
      <vt:lpstr>SQL Queries</vt:lpstr>
      <vt:lpstr>SQL Queries</vt:lpstr>
      <vt:lpstr>SQL Queries</vt:lpstr>
      <vt:lpstr>SQL Queries</vt:lpstr>
      <vt:lpstr>SQL Queries</vt:lpstr>
      <vt:lpstr>Summary &amp; Strategic Action Plan</vt:lpstr>
      <vt:lpstr>Challenges and Solutions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KAMIL</cp:lastModifiedBy>
  <cp:revision>6</cp:revision>
  <dcterms:created xsi:type="dcterms:W3CDTF">2013-01-27T09:14:16Z</dcterms:created>
  <dcterms:modified xsi:type="dcterms:W3CDTF">2026-03-11T02:08:23Z</dcterms:modified>
  <cp:category/>
</cp:coreProperties>
</file>